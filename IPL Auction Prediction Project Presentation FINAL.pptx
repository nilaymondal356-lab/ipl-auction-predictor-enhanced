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66" r:id="rId3"/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8" r:id="rId14"/>
    <p:sldId id="269" r:id="rId15"/>
  </p:sldIdLst>
  <p:sldSz cx="14630400" cy="8229600"/>
  <p:notesSz cx="8229600" cy="14630400"/>
  <p:embeddedFontLst>
    <p:embeddedFont>
      <p:font typeface="SimSun" panose="02010600030101010101" pitchFamily="2" charset="-122"/>
      <p:regular r:id="rId19"/>
    </p:embeddedFont>
    <p:embeddedFont>
      <p:font typeface="Georgia" panose="02040502050405020303" charset="0"/>
      <p:regular r:id="rId20"/>
      <p:bold r:id="rId21"/>
      <p:italic r:id="rId22"/>
      <p:boldItalic r:id="rId23"/>
    </p:embeddedFont>
    <p:embeddedFont>
      <p:font typeface="Inter" panose="02000503000000020004" pitchFamily="34" charset="-122"/>
      <p:regular r:id="rId24"/>
    </p:embeddedFont>
    <p:embeddedFont>
      <p:font typeface="Inter" panose="02000503000000020004" pitchFamily="34" charset="0"/>
      <p:regular r:id="rId25"/>
    </p:embeddedFont>
    <p:embeddedFont>
      <p:font typeface="Inter" panose="02000503000000020004" pitchFamily="34" charset="-120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7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56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87021" y="830580"/>
            <a:ext cx="14262099" cy="733234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541" y="659130"/>
            <a:ext cx="14630400" cy="181356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16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3053080" y="2990850"/>
            <a:ext cx="8872221" cy="146685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209040" y="744856"/>
            <a:ext cx="12435840" cy="1764030"/>
          </a:xfrm>
        </p:spPr>
        <p:txBody>
          <a:bodyPr/>
          <a:lstStyle>
            <a:lvl1pPr>
              <a:defRPr sz="432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8182F0-CF90-4D8B-A51C-796537115A5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880"/>
            </a:lvl1pPr>
            <a:lvl2pPr marL="548640" indent="0">
              <a:buNone/>
              <a:defRPr sz="2400"/>
            </a:lvl2pPr>
            <a:lvl3pPr marL="1097280" indent="0">
              <a:buNone/>
              <a:defRPr sz="216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61760" cy="54311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920240"/>
            <a:ext cx="6461760" cy="54311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8381" y="2017396"/>
            <a:ext cx="618997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8381" y="3006090"/>
            <a:ext cx="6189979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20461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20461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8C8E8E-58DE-4BEE-BE52-68F5EB94869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91BF9C-0C2C-498E-B2D1-954EBF08AFA5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0461" y="1184910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20461" y="1184910"/>
            <a:ext cx="7406640" cy="58483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541" y="400050"/>
            <a:ext cx="14630400" cy="121158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16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3"/>
          <a:srcRect t="1094" r="8122" b="13318"/>
          <a:stretch>
            <a:fillRect/>
          </a:stretch>
        </p:blipFill>
        <p:spPr>
          <a:xfrm>
            <a:off x="9276080" y="5326380"/>
            <a:ext cx="5344160" cy="2800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68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68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68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528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411480" indent="-411480" algn="l" rtl="0" fontAlgn="base">
        <a:spcBef>
          <a:spcPct val="24000"/>
        </a:spcBef>
        <a:spcAft>
          <a:spcPct val="0"/>
        </a:spcAft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fontAlgn="base">
        <a:spcBef>
          <a:spcPct val="24000"/>
        </a:spcBef>
        <a:spcAft>
          <a:spcPct val="0"/>
        </a:spcAft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fontAlgn="base">
        <a:spcBef>
          <a:spcPct val="24000"/>
        </a:spcBef>
        <a:spcAft>
          <a:spcPct val="0"/>
        </a:spcAft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fontAlgn="base">
        <a:spcBef>
          <a:spcPct val="24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fontAlgn="base">
        <a:spcBef>
          <a:spcPct val="24000"/>
        </a:spcBef>
        <a:spcAft>
          <a:spcPct val="0"/>
        </a:spcAft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2.xml"/><Relationship Id="rId24" Type="http://schemas.openxmlformats.org/officeDocument/2006/relationships/image" Target="../media/image12.png"/><Relationship Id="rId23" Type="http://schemas.openxmlformats.org/officeDocument/2006/relationships/image" Target="../media/image11.png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20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4630400" cy="8229601"/>
          </a:xfrm>
          <a:prstGeom prst="rect">
            <a:avLst/>
          </a:prstGeom>
        </p:spPr>
      </p:pic>
      <p:sp>
        <p:nvSpPr>
          <p:cNvPr id="6" name="Rectangle: Rounded Corners 5"/>
          <p:cNvSpPr/>
          <p:nvPr/>
        </p:nvSpPr>
        <p:spPr>
          <a:xfrm>
            <a:off x="349250" y="237490"/>
            <a:ext cx="13969365" cy="7661275"/>
          </a:xfrm>
          <a:prstGeom prst="roundRect">
            <a:avLst>
              <a:gd name="adj" fmla="val 14767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7137" y="3438146"/>
          <a:ext cx="12801599" cy="379171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255661"/>
                <a:gridCol w="3802014"/>
                <a:gridCol w="5743924"/>
              </a:tblGrid>
              <a:tr h="9937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Name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University Roll Number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Email ID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</a:tr>
              <a:tr h="81035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Nilay Mandal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10300224228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nilaymondal356@gmail.com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</a:tr>
              <a:tr h="9937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Santanu Das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10300224232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santanudas.collegemail@gmail.com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</a:tr>
              <a:tr h="99378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Priyabrata Sen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10300224230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Georgia" panose="02040502050405020303" charset="0"/>
                          <a:cs typeface="Georgia" panose="02040502050405020303" charset="0"/>
                        </a:rPr>
                        <a:t>senpriyabrata2003@gmail.com</a:t>
                      </a:r>
                      <a:endParaRPr lang="en-US" sz="2400" dirty="0">
                        <a:latin typeface="Georgia" panose="02040502050405020303" charset="0"/>
                        <a:cs typeface="Georgia" panose="02040502050405020303" charset="0"/>
                      </a:endParaRPr>
                    </a:p>
                  </a:txBody>
                  <a:tcPr marL="109728" marR="109728" marT="54864" marB="54864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9499" y="237744"/>
            <a:ext cx="12508992" cy="2922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Georgia" panose="02040502050405020303" charset="0"/>
                <a:cs typeface="Georgia" panose="02040502050405020303" charset="0"/>
              </a:rPr>
              <a:t>Performance-Based Analysis of IPL Players and Auction Pricing</a:t>
            </a:r>
            <a:endParaRPr lang="en-US" sz="4800" b="1" dirty="0">
              <a:latin typeface="Georgia" panose="02040502050405020303" charset="0"/>
              <a:cs typeface="Georgia" panose="02040502050405020303" charset="0"/>
            </a:endParaRPr>
          </a:p>
          <a:p>
            <a:pPr algn="ctr"/>
            <a:endParaRPr lang="en-US" sz="4800" dirty="0">
              <a:latin typeface="Georgia" panose="02040502050405020303" charset="0"/>
              <a:cs typeface="Georgia" panose="02040502050405020303" charset="0"/>
            </a:endParaRP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000" dirty="0">
                <a:latin typeface="Georgia" panose="02040502050405020303" charset="0"/>
                <a:cs typeface="Georgia" panose="02040502050405020303" charset="0"/>
              </a:rPr>
              <a:t>Group Members:</a:t>
            </a:r>
            <a:endParaRPr lang="en-US" sz="4000" dirty="0">
              <a:latin typeface="Georgia" panose="02040502050405020303" charset="0"/>
              <a:cs typeface="Georgia" panose="02040502050405020303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r="63425"/>
          <a:stretch>
            <a:fillRect/>
          </a:stretch>
        </p:blipFill>
        <p:spPr>
          <a:xfrm>
            <a:off x="304799" y="-294423"/>
            <a:ext cx="1414274" cy="3844110"/>
          </a:xfrm>
          <a:prstGeom prst="rect">
            <a:avLst/>
          </a:prstGeom>
        </p:spPr>
      </p:pic>
      <p:sp>
        <p:nvSpPr>
          <p:cNvPr id="2" name="6-Point Star 1"/>
          <p:cNvSpPr/>
          <p:nvPr/>
        </p:nvSpPr>
        <p:spPr>
          <a:xfrm>
            <a:off x="13726795" y="7333615"/>
            <a:ext cx="549275" cy="641350"/>
          </a:xfrm>
          <a:prstGeom prst="star6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haan/OneDrive/Desktop/auctiontop.jpgauctiontop"/>
          <p:cNvPicPr>
            <a:picLocks noChangeAspect="1"/>
          </p:cNvPicPr>
          <p:nvPr/>
        </p:nvPicPr>
        <p:blipFill>
          <a:blip r:embed="rId1"/>
          <a:srcRect l="31250" r="31250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1618615"/>
            <a:ext cx="8057515" cy="1488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IPL Auction Price Prediction System</a:t>
            </a:r>
            <a:endParaRPr lang="en-US" sz="465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63895" y="3523813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A machine learning-powered solution for data-driven player valuation in the Indian Premier League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altLang="en-GB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Objective: Optimize franchise budget allocation using historical performance metrics.</a:t>
            </a:r>
            <a:endParaRPr lang="en-US" altLang="en-GB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altLang="en-GB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Methodology: Predictive modeling via the Gaussian Naive Bayes algorithm.</a:t>
            </a:r>
            <a:endParaRPr lang="en-US" altLang="en-GB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altLang="en-GB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Impact: Real-time valuation of "uncapped" and "star" players to minimize auction risks.</a:t>
            </a:r>
            <a:endParaRPr lang="en-US" altLang="en-GB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73" y="151209"/>
            <a:ext cx="1326237" cy="412313"/>
          </a:xfrm>
          <a:prstGeom prst="roundRect">
            <a:avLst>
              <a:gd name="adj" fmla="val 18030"/>
            </a:avLst>
          </a:prstGeom>
          <a:solidFill>
            <a:srgbClr val="1C113B"/>
          </a:solidFill>
        </p:spPr>
      </p:sp>
      <p:sp>
        <p:nvSpPr>
          <p:cNvPr id="3" name="Text 1"/>
          <p:cNvSpPr/>
          <p:nvPr/>
        </p:nvSpPr>
        <p:spPr>
          <a:xfrm>
            <a:off x="264279" y="195302"/>
            <a:ext cx="1060966" cy="2796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CHALLENGE</a:t>
            </a:r>
            <a:endParaRPr lang="en-US" sz="1200" dirty="0">
              <a:solidFill>
                <a:srgbClr val="E0D6DE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47058" y="693658"/>
            <a:ext cx="6152793" cy="7259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Valuation Problem</a:t>
            </a:r>
            <a:endParaRPr lang="en-US" sz="455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4263" y="2699028"/>
            <a:ext cx="4227671" cy="2097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IPL auction prices are influenced by numerous performance factors, making accurate valuation complex. Traditional manual approaches introduce subjectivity and inconsistency across team evaluations.</a:t>
            </a:r>
            <a:endParaRPr lang="en-US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4263" y="4990624"/>
            <a:ext cx="4227671" cy="2097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Teams need a systematic, data-driven valuation framework to make informed bidding decisions. Machine learning offers an automated solution to predict auction prices based on comprehensive performance analysis.</a:t>
            </a:r>
            <a:endParaRPr lang="en-US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pic>
        <p:nvPicPr>
          <p:cNvPr id="7" name="Image 0" descr="C:/Users/Shaan/OneDrive/Desktop/Gemini_Generated_Image_ts4wo5ts4wo5ts4w (1).pngGemini_Generated_Image_ts4wo5ts4wo5ts4w (1)"/>
          <p:cNvPicPr>
            <a:picLocks noChangeAspect="1"/>
          </p:cNvPicPr>
          <p:nvPr/>
        </p:nvPicPr>
        <p:blipFill>
          <a:blip r:embed="rId1"/>
          <a:srcRect l="1828" r="1828"/>
          <a:stretch>
            <a:fillRect/>
          </a:stretch>
        </p:blipFill>
        <p:spPr>
          <a:xfrm>
            <a:off x="5351145" y="1974850"/>
            <a:ext cx="8422005" cy="581977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670" y="1641475"/>
            <a:ext cx="1353185" cy="426085"/>
          </a:xfrm>
          <a:prstGeom prst="roundRect">
            <a:avLst>
              <a:gd name="adj" fmla="val 17880"/>
            </a:avLst>
          </a:prstGeom>
          <a:solidFill>
            <a:srgbClr val="1C113B"/>
          </a:solidFill>
        </p:spPr>
      </p:sp>
      <p:sp>
        <p:nvSpPr>
          <p:cNvPr id="4" name="Text 1"/>
          <p:cNvSpPr/>
          <p:nvPr/>
        </p:nvSpPr>
        <p:spPr>
          <a:xfrm>
            <a:off x="1227455" y="1696164"/>
            <a:ext cx="1118473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OBJECTIVES</a:t>
            </a:r>
            <a:endParaRPr lang="en-US" sz="1200" dirty="0">
              <a:solidFill>
                <a:srgbClr val="E0D6DE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96450" y="1999734"/>
            <a:ext cx="5954197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Goals</a:t>
            </a:r>
            <a:endParaRPr lang="en-US" sz="465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793155" y="3242905"/>
            <a:ext cx="3090505" cy="3345061"/>
          </a:xfrm>
          <a:prstGeom prst="roundRect">
            <a:avLst>
              <a:gd name="adj" fmla="val 3083"/>
            </a:avLst>
          </a:prstGeom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" name="Text 4"/>
          <p:cNvSpPr/>
          <p:nvPr>
            <p:custDataLst>
              <p:tags r:id="rId2"/>
            </p:custDataLst>
          </p:nvPr>
        </p:nvSpPr>
        <p:spPr>
          <a:xfrm>
            <a:off x="929799" y="3457496"/>
            <a:ext cx="2621637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Debut Player Focus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0" name="Text 5"/>
          <p:cNvSpPr/>
          <p:nvPr>
            <p:custDataLst>
              <p:tags r:id="rId3"/>
            </p:custDataLst>
          </p:nvPr>
        </p:nvSpPr>
        <p:spPr>
          <a:xfrm>
            <a:off x="965994" y="4201874"/>
            <a:ext cx="2621637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Predict IPL auction prices for first-time players entering the league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11" name="Shape 6"/>
          <p:cNvSpPr/>
          <p:nvPr>
            <p:custDataLst>
              <p:tags r:id="rId4"/>
            </p:custDataLst>
          </p:nvPr>
        </p:nvSpPr>
        <p:spPr>
          <a:xfrm>
            <a:off x="4059039" y="3242905"/>
            <a:ext cx="3090624" cy="3345061"/>
          </a:xfrm>
          <a:prstGeom prst="roundRect">
            <a:avLst>
              <a:gd name="adj" fmla="val 3082"/>
            </a:avLst>
          </a:prstGeom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l"/>
            <a:endParaRPr lang="en-GB" altLang="en-US"/>
          </a:p>
        </p:txBody>
      </p:sp>
      <p:sp>
        <p:nvSpPr>
          <p:cNvPr id="14" name="Text 7"/>
          <p:cNvSpPr/>
          <p:nvPr>
            <p:custDataLst>
              <p:tags r:id="rId5"/>
            </p:custDataLst>
          </p:nvPr>
        </p:nvSpPr>
        <p:spPr>
          <a:xfrm>
            <a:off x="4394835" y="3457575"/>
            <a:ext cx="3382645" cy="744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altLang="en-GB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Comp. Analysis</a:t>
            </a:r>
            <a:endParaRPr lang="en-US" altLang="en-GB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5" name="Text 8"/>
          <p:cNvSpPr/>
          <p:nvPr>
            <p:custDataLst>
              <p:tags r:id="rId6"/>
            </p:custDataLst>
          </p:nvPr>
        </p:nvSpPr>
        <p:spPr>
          <a:xfrm>
            <a:off x="4296648" y="4335185"/>
            <a:ext cx="262175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Evaluate 32 distinct player performance parameters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16" name="Shape 9"/>
          <p:cNvSpPr/>
          <p:nvPr>
            <p:custDataLst>
              <p:tags r:id="rId7"/>
            </p:custDataLst>
          </p:nvPr>
        </p:nvSpPr>
        <p:spPr>
          <a:xfrm>
            <a:off x="7443788" y="3242905"/>
            <a:ext cx="3090624" cy="3345061"/>
          </a:xfrm>
          <a:prstGeom prst="roundRect">
            <a:avLst>
              <a:gd name="adj" fmla="val 3082"/>
            </a:avLst>
          </a:prstGeom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" name="Text 10"/>
          <p:cNvSpPr/>
          <p:nvPr>
            <p:custDataLst>
              <p:tags r:id="rId8"/>
            </p:custDataLst>
          </p:nvPr>
        </p:nvSpPr>
        <p:spPr>
          <a:xfrm>
            <a:off x="7608570" y="3457575"/>
            <a:ext cx="3103245" cy="744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Confidence Scoring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20" name="Text 11"/>
          <p:cNvSpPr/>
          <p:nvPr>
            <p:custDataLst>
              <p:tags r:id="rId9"/>
            </p:custDataLst>
          </p:nvPr>
        </p:nvSpPr>
        <p:spPr>
          <a:xfrm>
            <a:off x="7668062" y="4335185"/>
            <a:ext cx="262175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Provide price ranges with statistical confidence levels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21" name="Shape 12"/>
          <p:cNvSpPr/>
          <p:nvPr>
            <p:custDataLst>
              <p:tags r:id="rId10"/>
            </p:custDataLst>
          </p:nvPr>
        </p:nvSpPr>
        <p:spPr>
          <a:xfrm>
            <a:off x="10745986" y="3242905"/>
            <a:ext cx="3090624" cy="3345061"/>
          </a:xfrm>
          <a:prstGeom prst="roundRect">
            <a:avLst>
              <a:gd name="adj" fmla="val 3082"/>
            </a:avLst>
          </a:prstGeom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" name="Text 13"/>
          <p:cNvSpPr/>
          <p:nvPr>
            <p:custDataLst>
              <p:tags r:id="rId11"/>
            </p:custDataLst>
          </p:nvPr>
        </p:nvSpPr>
        <p:spPr>
          <a:xfrm>
            <a:off x="10943590" y="3457496"/>
            <a:ext cx="2621756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Platform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25" name="Text 14"/>
          <p:cNvSpPr/>
          <p:nvPr>
            <p:custDataLst>
              <p:tags r:id="rId12"/>
            </p:custDataLst>
          </p:nvPr>
        </p:nvSpPr>
        <p:spPr>
          <a:xfrm>
            <a:off x="10980420" y="4417774"/>
            <a:ext cx="262175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Deliver an intuitive, user-friendly web application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18523"/>
            <a:ext cx="1220986" cy="441484"/>
          </a:xfrm>
          <a:prstGeom prst="roundRect">
            <a:avLst>
              <a:gd name="adj" fmla="val 17263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967978" y="1568728"/>
            <a:ext cx="933569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SOLUTION</a:t>
            </a:r>
            <a:endParaRPr lang="en-US" sz="1200" dirty="0">
              <a:solidFill>
                <a:schemeClr val="bg1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050733"/>
            <a:ext cx="5954197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Approach</a:t>
            </a:r>
            <a:endParaRPr lang="en-US" sz="465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1"/>
            </p:custDataLst>
          </p:nvPr>
        </p:nvSpPr>
        <p:spPr>
          <a:xfrm>
            <a:off x="1020604" y="4269224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IN" alt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 </a:t>
            </a: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Input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1020604" y="4777383"/>
            <a:ext cx="389393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Domestic cricket performance statistics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9" name="Text 5"/>
          <p:cNvSpPr/>
          <p:nvPr>
            <p:custDataLst>
              <p:tags r:id="rId3"/>
            </p:custDataLst>
          </p:nvPr>
        </p:nvSpPr>
        <p:spPr>
          <a:xfrm>
            <a:off x="5368171" y="4269224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IN" alt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2. </a:t>
            </a: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Processing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0" name="Text 6"/>
          <p:cNvSpPr/>
          <p:nvPr>
            <p:custDataLst>
              <p:tags r:id="rId4"/>
            </p:custDataLst>
          </p:nvPr>
        </p:nvSpPr>
        <p:spPr>
          <a:xfrm>
            <a:off x="5368171" y="4777383"/>
            <a:ext cx="389393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Advanced prediction algorithms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12" name="Text 7"/>
          <p:cNvSpPr/>
          <p:nvPr>
            <p:custDataLst>
              <p:tags r:id="rId5"/>
            </p:custDataLst>
          </p:nvPr>
        </p:nvSpPr>
        <p:spPr>
          <a:xfrm>
            <a:off x="9715738" y="4269224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IN" alt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 </a:t>
            </a: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Output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6"/>
            </p:custDataLst>
          </p:nvPr>
        </p:nvSpPr>
        <p:spPr>
          <a:xfrm>
            <a:off x="9715738" y="4777383"/>
            <a:ext cx="389393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Instant auction price estimates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93790" y="5985153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The system leverages machine learning to automate decision support, providing teams with objective, data-backed player valuations through an intuitive web interface.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3750" y="3826510"/>
            <a:ext cx="12382500" cy="167703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7848" y="489506"/>
            <a:ext cx="5894189" cy="7367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</a:t>
            </a:r>
            <a:endParaRPr lang="en-US" sz="460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088787" y="1629630"/>
            <a:ext cx="6659831" cy="9341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endParaRPr lang="en-US" sz="320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169664" y="6436624"/>
            <a:ext cx="4214574" cy="1411962"/>
          </a:xfrm>
          <a:prstGeom prst="roundRect">
            <a:avLst>
              <a:gd name="adj" fmla="val 6679"/>
            </a:avLst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GB" altLang="en-US"/>
          </a:p>
        </p:txBody>
      </p:sp>
      <p:sp>
        <p:nvSpPr>
          <p:cNvPr id="20" name="Text 17"/>
          <p:cNvSpPr/>
          <p:nvPr/>
        </p:nvSpPr>
        <p:spPr>
          <a:xfrm>
            <a:off x="5372304" y="6604542"/>
            <a:ext cx="2947035" cy="368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Layer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372939" y="7098453"/>
            <a:ext cx="3750469" cy="3574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Trained prediction model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5215255" y="2327910"/>
            <a:ext cx="4200525" cy="1769110"/>
          </a:xfrm>
          <a:prstGeom prst="roundRect">
            <a:avLst>
              <a:gd name="adj" fmla="val 5330"/>
            </a:avLst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scene3d>
              <a:camera prst="orthographicFront"/>
              <a:lightRig rig="threePt" dir="t"/>
            </a:scene3d>
          </a:bodyPr>
          <a:p>
            <a:endParaRPr lang="en-GB" altLang="en-US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8" name="Text 11"/>
          <p:cNvSpPr/>
          <p:nvPr/>
        </p:nvSpPr>
        <p:spPr>
          <a:xfrm>
            <a:off x="5309836" y="2513528"/>
            <a:ext cx="2947035" cy="368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 Layer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5309836" y="2915364"/>
            <a:ext cx="3750469" cy="7148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React web application with responsive UI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5167124" y="4560378"/>
            <a:ext cx="4214574" cy="1411962"/>
          </a:xfrm>
          <a:prstGeom prst="roundRect">
            <a:avLst>
              <a:gd name="adj" fmla="val 6679"/>
            </a:avLst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GB" altLang="en-US"/>
          </a:p>
        </p:txBody>
      </p:sp>
      <p:sp>
        <p:nvSpPr>
          <p:cNvPr id="34" name="Text 14"/>
          <p:cNvSpPr/>
          <p:nvPr/>
        </p:nvSpPr>
        <p:spPr>
          <a:xfrm>
            <a:off x="5371872" y="4737518"/>
            <a:ext cx="2947035" cy="368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 Layer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5371872" y="5213014"/>
            <a:ext cx="3750469" cy="3574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Flask REST API for data processing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36" name="Arrow: Down 35"/>
          <p:cNvSpPr/>
          <p:nvPr/>
        </p:nvSpPr>
        <p:spPr>
          <a:xfrm>
            <a:off x="6940020" y="4095611"/>
            <a:ext cx="669303" cy="498473"/>
          </a:xfrm>
          <a:prstGeom prst="downArrow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/>
          <p:cNvSpPr/>
          <p:nvPr/>
        </p:nvSpPr>
        <p:spPr>
          <a:xfrm>
            <a:off x="7007746" y="6005995"/>
            <a:ext cx="479074" cy="427990"/>
          </a:xfrm>
          <a:prstGeom prst="downArrow">
            <a:avLst/>
          </a:prstGeom>
        </p:spPr>
        <p:style>
          <a:lnRef idx="0">
            <a:srgbClr val="FFFFFF"/>
          </a:lnRef>
          <a:fillRef idx="1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263" y="608409"/>
            <a:ext cx="1660565" cy="412313"/>
          </a:xfrm>
          <a:prstGeom prst="roundRect">
            <a:avLst>
              <a:gd name="adj" fmla="val 18030"/>
            </a:avLst>
          </a:prstGeom>
          <a:solidFill>
            <a:srgbClr val="1C113B"/>
          </a:solidFill>
        </p:spPr>
      </p:sp>
      <p:sp>
        <p:nvSpPr>
          <p:cNvPr id="3" name="Text 1"/>
          <p:cNvSpPr/>
          <p:nvPr/>
        </p:nvSpPr>
        <p:spPr>
          <a:xfrm>
            <a:off x="906899" y="674727"/>
            <a:ext cx="1395293" cy="2796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MODEL DETAILS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4263" y="1107043"/>
            <a:ext cx="9351169" cy="7259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Machine Learning Implementation</a:t>
            </a:r>
            <a:endParaRPr lang="en-US" sz="455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4263" y="2908816"/>
            <a:ext cx="4227671" cy="871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Gaussian Naive Bayes Algorithm</a:t>
            </a:r>
            <a:endParaRPr lang="en-US" sz="270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4263" y="3995618"/>
            <a:ext cx="4227671" cy="27971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Trained on </a:t>
            </a:r>
            <a:r>
              <a:rPr lang="en-US" sz="1700" b="1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50,000 player records</a:t>
            </a:r>
            <a:r>
              <a:rPr lang="en-US" sz="170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 for robust performance</a:t>
            </a:r>
            <a:endParaRPr lang="en-US" sz="1700" dirty="0">
              <a:solidFill>
                <a:schemeClr val="tx1"/>
              </a:solidFill>
              <a:latin typeface="Georgia" panose="02040502050405020303" charset="0"/>
              <a:cs typeface="Georgia" panose="02040502050405020303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Classification-based approach using strategic price bins</a:t>
            </a:r>
            <a:endParaRPr lang="en-US" sz="1700" dirty="0">
              <a:solidFill>
                <a:schemeClr val="tx1"/>
              </a:solidFill>
              <a:latin typeface="Georgia" panose="02040502050405020303" charset="0"/>
              <a:cs typeface="Georgia" panose="02040502050405020303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Outputs prediction with statistical confidence score</a:t>
            </a:r>
            <a:endParaRPr lang="en-US" sz="1700" dirty="0">
              <a:solidFill>
                <a:schemeClr val="tx1"/>
              </a:solidFill>
              <a:latin typeface="Georgia" panose="02040502050405020303" charset="0"/>
              <a:cs typeface="Georgia" panose="02040502050405020303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Optimized for real-time inference speed</a:t>
            </a:r>
            <a:endParaRPr lang="en-US" sz="170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pic>
        <p:nvPicPr>
          <p:cNvPr id="7" name="Image 0" descr="C:/Users/Shaan/OneDrive/Desktop/Gemini_Generated_Image_e50cxye50cxye50c (1).pngGemini_Generated_Image_e50cxye50cxye50c (1)"/>
          <p:cNvPicPr>
            <a:picLocks noChangeAspect="1"/>
          </p:cNvPicPr>
          <p:nvPr/>
        </p:nvPicPr>
        <p:blipFill>
          <a:blip r:embed="rId1"/>
          <a:srcRect t="6165" b="6165"/>
          <a:stretch>
            <a:fillRect/>
          </a:stretch>
        </p:blipFill>
        <p:spPr>
          <a:xfrm>
            <a:off x="5549384" y="2399348"/>
            <a:ext cx="8314253" cy="498848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8194"/>
            <a:ext cx="8317111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&amp; Feature Engineering</a:t>
            </a:r>
            <a:endParaRPr lang="en-US" sz="465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48044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50K</a:t>
            </a:r>
            <a:endParaRPr lang="en-US" sz="585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84578" y="3479840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Player Records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98799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Comprehensive training dataset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35893" y="2448044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32</a:t>
            </a:r>
            <a:endParaRPr lang="en-US" sz="585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26681" y="3479840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Features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35893" y="398799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Performance parameters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77995" y="2448044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585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268783" y="3479840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Player Roles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77995" y="398799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Position categories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4691063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Categories</a:t>
            </a:r>
            <a:endParaRPr lang="en-US" sz="230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5403294"/>
            <a:ext cx="13042821" cy="14516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Batting performance metrics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cs typeface="Georgia" panose="02040502050405020303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Bowling statistics and variations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cs typeface="Georgia" panose="02040502050405020303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Fielding and wicket-keeping abilities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cs typeface="Georgia" panose="02040502050405020303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Overall match performance indicators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>
            <p:custDataLst>
              <p:tags r:id="rId1"/>
            </p:custDataLst>
          </p:nvPr>
        </p:nvSpPr>
        <p:spPr>
          <a:xfrm>
            <a:off x="533519" y="469900"/>
            <a:ext cx="775573" cy="189548"/>
          </a:xfrm>
          <a:prstGeom prst="roundRect">
            <a:avLst>
              <a:gd name="adj" fmla="val 21308"/>
            </a:avLst>
          </a:prstGeom>
          <a:solidFill>
            <a:srgbClr val="1C113B"/>
          </a:solidFill>
        </p:spPr>
      </p:sp>
      <p:pic>
        <p:nvPicPr>
          <p:cNvPr id="3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0167" y="1321118"/>
            <a:ext cx="96083" cy="960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043" y="510302"/>
            <a:ext cx="487442" cy="1176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FEATURES</a:t>
            </a:r>
            <a:endParaRPr lang="en-US" sz="1000" dirty="0">
              <a:solidFill>
                <a:schemeClr val="bg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6214" y="736362"/>
            <a:ext cx="4212550" cy="3943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Application Capabilities</a:t>
            </a:r>
            <a:endParaRPr lang="en-US" sz="245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6" name="Shape 3"/>
          <p:cNvSpPr/>
          <p:nvPr>
            <p:custDataLst>
              <p:tags r:id="rId5"/>
            </p:custDataLst>
          </p:nvPr>
        </p:nvSpPr>
        <p:spPr>
          <a:xfrm>
            <a:off x="409490" y="1286947"/>
            <a:ext cx="3572357" cy="1087812"/>
          </a:xfrm>
          <a:prstGeom prst="roundRect">
            <a:avLst>
              <a:gd name="adj" fmla="val 8857"/>
            </a:avLst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764842" y="1476673"/>
            <a:ext cx="2090160" cy="2596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IPL-Themed Interface</a:t>
            </a:r>
            <a:endParaRPr lang="en-US" sz="14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764842" y="1820251"/>
            <a:ext cx="3155549" cy="3876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Interactive React UI with authentic cricket aesthetics</a:t>
            </a:r>
            <a:endParaRPr lang="en-US" sz="100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10" name="Shape 6"/>
          <p:cNvSpPr/>
          <p:nvPr>
            <p:custDataLst>
              <p:tags r:id="rId8"/>
            </p:custDataLst>
          </p:nvPr>
        </p:nvSpPr>
        <p:spPr>
          <a:xfrm>
            <a:off x="409490" y="2470084"/>
            <a:ext cx="3572357" cy="1087812"/>
          </a:xfrm>
          <a:prstGeom prst="roundRect">
            <a:avLst>
              <a:gd name="adj" fmla="val 8857"/>
            </a:avLst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" name="Text 7"/>
          <p:cNvSpPr/>
          <p:nvPr>
            <p:custDataLst>
              <p:tags r:id="rId9"/>
            </p:custDataLst>
          </p:nvPr>
        </p:nvSpPr>
        <p:spPr>
          <a:xfrm>
            <a:off x="764842" y="2648380"/>
            <a:ext cx="2077772" cy="2596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Tabbed Navigation</a:t>
            </a:r>
            <a:endParaRPr lang="en-US" sz="14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10"/>
            </p:custDataLst>
          </p:nvPr>
        </p:nvSpPr>
        <p:spPr>
          <a:xfrm>
            <a:off x="764842" y="2991957"/>
            <a:ext cx="3155549" cy="3876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Organized stat categories for easy data entry</a:t>
            </a:r>
            <a:endParaRPr lang="en-US" sz="100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14" name="Shape 9"/>
          <p:cNvSpPr/>
          <p:nvPr>
            <p:custDataLst>
              <p:tags r:id="rId11"/>
            </p:custDataLst>
          </p:nvPr>
        </p:nvSpPr>
        <p:spPr>
          <a:xfrm>
            <a:off x="409490" y="3659571"/>
            <a:ext cx="3572357" cy="893991"/>
          </a:xfrm>
          <a:prstGeom prst="roundRect">
            <a:avLst>
              <a:gd name="adj" fmla="val 10777"/>
            </a:avLst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16" name="Text 10"/>
          <p:cNvSpPr/>
          <p:nvPr>
            <p:custDataLst>
              <p:tags r:id="rId12"/>
            </p:custDataLst>
          </p:nvPr>
        </p:nvSpPr>
        <p:spPr>
          <a:xfrm>
            <a:off x="764842" y="3820087"/>
            <a:ext cx="2077772" cy="2596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Batch Processing</a:t>
            </a:r>
            <a:endParaRPr lang="en-US" sz="14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7" name="Text 11"/>
          <p:cNvSpPr/>
          <p:nvPr>
            <p:custDataLst>
              <p:tags r:id="rId13"/>
            </p:custDataLst>
          </p:nvPr>
        </p:nvSpPr>
        <p:spPr>
          <a:xfrm>
            <a:off x="764842" y="4163664"/>
            <a:ext cx="3155549" cy="193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CSV upload for multiple player predictions</a:t>
            </a:r>
            <a:endParaRPr lang="en-US" sz="100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18" name="Shape 12"/>
          <p:cNvSpPr/>
          <p:nvPr>
            <p:custDataLst>
              <p:tags r:id="rId14"/>
            </p:custDataLst>
          </p:nvPr>
        </p:nvSpPr>
        <p:spPr>
          <a:xfrm>
            <a:off x="409490" y="4660950"/>
            <a:ext cx="3572357" cy="893991"/>
          </a:xfrm>
          <a:prstGeom prst="roundRect">
            <a:avLst>
              <a:gd name="adj" fmla="val 10777"/>
            </a:avLst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" name="Text 13"/>
          <p:cNvSpPr/>
          <p:nvPr>
            <p:custDataLst>
              <p:tags r:id="rId15"/>
            </p:custDataLst>
          </p:nvPr>
        </p:nvSpPr>
        <p:spPr>
          <a:xfrm>
            <a:off x="764842" y="4797972"/>
            <a:ext cx="2077772" cy="2596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Validation</a:t>
            </a:r>
            <a:endParaRPr lang="en-US" sz="14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21" name="Text 14"/>
          <p:cNvSpPr/>
          <p:nvPr>
            <p:custDataLst>
              <p:tags r:id="rId16"/>
            </p:custDataLst>
          </p:nvPr>
        </p:nvSpPr>
        <p:spPr>
          <a:xfrm>
            <a:off x="764842" y="5141549"/>
            <a:ext cx="3155549" cy="193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Real-time error handling and input checks</a:t>
            </a:r>
            <a:endParaRPr lang="en-US" sz="100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22" name="Shape 15"/>
          <p:cNvSpPr/>
          <p:nvPr>
            <p:custDataLst>
              <p:tags r:id="rId17"/>
            </p:custDataLst>
          </p:nvPr>
        </p:nvSpPr>
        <p:spPr>
          <a:xfrm>
            <a:off x="409490" y="5626137"/>
            <a:ext cx="3572357" cy="1087812"/>
          </a:xfrm>
          <a:prstGeom prst="roundRect">
            <a:avLst>
              <a:gd name="adj" fmla="val 8857"/>
            </a:avLst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" name="Text 16"/>
          <p:cNvSpPr/>
          <p:nvPr>
            <p:custDataLst>
              <p:tags r:id="rId18"/>
            </p:custDataLst>
          </p:nvPr>
        </p:nvSpPr>
        <p:spPr>
          <a:xfrm>
            <a:off x="764842" y="5775858"/>
            <a:ext cx="2077772" cy="2596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 Results</a:t>
            </a:r>
            <a:endParaRPr lang="en-US" sz="14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25" name="Text 17"/>
          <p:cNvSpPr/>
          <p:nvPr>
            <p:custDataLst>
              <p:tags r:id="rId19"/>
            </p:custDataLst>
          </p:nvPr>
        </p:nvSpPr>
        <p:spPr>
          <a:xfrm>
            <a:off x="764842" y="6119435"/>
            <a:ext cx="3155549" cy="3876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Animated confidence meter and price display</a:t>
            </a:r>
            <a:endParaRPr lang="en-US" sz="100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26" name="Shape 18"/>
          <p:cNvSpPr/>
          <p:nvPr>
            <p:custDataLst>
              <p:tags r:id="rId20"/>
            </p:custDataLst>
          </p:nvPr>
        </p:nvSpPr>
        <p:spPr>
          <a:xfrm>
            <a:off x="401870" y="6785143"/>
            <a:ext cx="3572357" cy="893991"/>
          </a:xfrm>
          <a:prstGeom prst="roundRect">
            <a:avLst>
              <a:gd name="adj" fmla="val 10777"/>
            </a:avLst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8" name="Text 19"/>
          <p:cNvSpPr/>
          <p:nvPr>
            <p:custDataLst>
              <p:tags r:id="rId21"/>
            </p:custDataLst>
          </p:nvPr>
        </p:nvSpPr>
        <p:spPr>
          <a:xfrm>
            <a:off x="764842" y="6947565"/>
            <a:ext cx="2077772" cy="2596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Demo Mode</a:t>
            </a:r>
            <a:endParaRPr lang="en-US" sz="14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29" name="Text 20"/>
          <p:cNvSpPr/>
          <p:nvPr>
            <p:custDataLst>
              <p:tags r:id="rId22"/>
            </p:custDataLst>
          </p:nvPr>
        </p:nvSpPr>
        <p:spPr>
          <a:xfrm>
            <a:off x="764842" y="7291142"/>
            <a:ext cx="3155549" cy="193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Auto-generate sample data for testing</a:t>
            </a:r>
            <a:endParaRPr lang="en-US" sz="100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81249" y="2880598"/>
            <a:ext cx="5288399" cy="317301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81220" y="1201420"/>
            <a:ext cx="9505950" cy="653161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2685" y="461050"/>
            <a:ext cx="6235303" cy="744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Execution Flow</a:t>
            </a:r>
            <a:endParaRPr lang="en-US" sz="465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5" name="Text 1"/>
          <p:cNvSpPr/>
          <p:nvPr>
            <p:custDataLst>
              <p:tags r:id="rId1"/>
            </p:custDataLst>
          </p:nvPr>
        </p:nvSpPr>
        <p:spPr>
          <a:xfrm>
            <a:off x="10250400" y="5605493"/>
            <a:ext cx="1904234" cy="385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5. </a:t>
            </a:r>
            <a:r>
              <a:rPr lang="en-US" sz="2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 Price</a:t>
            </a:r>
            <a:endParaRPr lang="en-US" sz="24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7" name="Text 2"/>
          <p:cNvSpPr/>
          <p:nvPr>
            <p:custDataLst>
              <p:tags r:id="rId2"/>
            </p:custDataLst>
          </p:nvPr>
        </p:nvSpPr>
        <p:spPr>
          <a:xfrm>
            <a:off x="7582535" y="4688840"/>
            <a:ext cx="2720975" cy="770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4. </a:t>
            </a:r>
            <a:r>
              <a:rPr lang="en-US" sz="2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Process</a:t>
            </a:r>
            <a:endParaRPr lang="en-US" sz="24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9" name="Text 3"/>
          <p:cNvSpPr/>
          <p:nvPr>
            <p:custDataLst>
              <p:tags r:id="rId3"/>
            </p:custDataLst>
          </p:nvPr>
        </p:nvSpPr>
        <p:spPr>
          <a:xfrm>
            <a:off x="5601524" y="3747483"/>
            <a:ext cx="1904234" cy="385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 </a:t>
            </a:r>
            <a:r>
              <a:rPr lang="en-US" sz="2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Send via API</a:t>
            </a:r>
            <a:endParaRPr lang="en-US" sz="24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1" name="Text 4"/>
          <p:cNvSpPr/>
          <p:nvPr>
            <p:custDataLst>
              <p:tags r:id="rId4"/>
            </p:custDataLst>
          </p:nvPr>
        </p:nvSpPr>
        <p:spPr>
          <a:xfrm>
            <a:off x="2805430" y="2822575"/>
            <a:ext cx="3070860" cy="770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2. </a:t>
            </a:r>
            <a:r>
              <a:rPr lang="en-US" sz="2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Validate Input</a:t>
            </a:r>
            <a:endParaRPr lang="en-US" sz="24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3" name="Text 5"/>
          <p:cNvSpPr/>
          <p:nvPr>
            <p:custDataLst>
              <p:tags r:id="rId5"/>
            </p:custDataLst>
          </p:nvPr>
        </p:nvSpPr>
        <p:spPr>
          <a:xfrm>
            <a:off x="744610" y="1860898"/>
            <a:ext cx="1904234" cy="385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 </a:t>
            </a:r>
            <a:r>
              <a:rPr lang="en-US" sz="24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Enter Stats</a:t>
            </a:r>
            <a:endParaRPr lang="en-US" sz="24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358815" y="6412190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The system processes predictions in milliseconds, providing instant feedback through a seamless user experience. Each step includes built-in validation to ensure data quality and prediction accuracy.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16" name="Rounded Rectangle 15"/>
          <p:cNvSpPr/>
          <p:nvPr>
            <p:custDataLst>
              <p:tags r:id="rId6"/>
            </p:custDataLst>
          </p:nvPr>
        </p:nvSpPr>
        <p:spPr>
          <a:xfrm>
            <a:off x="2744470" y="2433320"/>
            <a:ext cx="4005580" cy="115951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7"/>
            </p:custDataLst>
          </p:nvPr>
        </p:nvSpPr>
        <p:spPr>
          <a:xfrm>
            <a:off x="5144135" y="3382645"/>
            <a:ext cx="4005580" cy="115951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8"/>
            </p:custDataLst>
          </p:nvPr>
        </p:nvSpPr>
        <p:spPr>
          <a:xfrm>
            <a:off x="358775" y="1473835"/>
            <a:ext cx="4005580" cy="115951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9"/>
            </p:custDataLst>
          </p:nvPr>
        </p:nvSpPr>
        <p:spPr>
          <a:xfrm>
            <a:off x="7387590" y="4287520"/>
            <a:ext cx="4005580" cy="115951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10"/>
            </p:custDataLst>
          </p:nvPr>
        </p:nvSpPr>
        <p:spPr>
          <a:xfrm>
            <a:off x="9642475" y="5219700"/>
            <a:ext cx="4005580" cy="115951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3390" y="541655"/>
            <a:ext cx="11333480" cy="1488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&amp; Future Directions</a:t>
            </a:r>
            <a:endParaRPr lang="en-US" sz="465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9780" y="2029857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Achievement</a:t>
            </a:r>
            <a:endParaRPr lang="en-US" sz="2300" b="1" dirty="0">
              <a:solidFill>
                <a:schemeClr val="tx1"/>
              </a:soli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0085" y="2504916"/>
            <a:ext cx="3374588" cy="25403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Successfully developed a machine learning-based IPL auction price predictor that demonstrates the powerful intersection of sports analytics and predictive modeling in real-world scenarios.</a:t>
            </a:r>
            <a:endParaRPr lang="en-US" dirty="0">
              <a:latin typeface="Georgia" panose="02040502050405020303" charset="0"/>
              <a:cs typeface="Georgia" panose="02040502050405020303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62491" y="1922542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Opportunities</a:t>
            </a:r>
            <a:endParaRPr lang="en-US" sz="23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62491" y="2504916"/>
            <a:ext cx="3501509" cy="29033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Integration with actual IPL auction datasets for enhanced accuracy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cs typeface="Georgia" panose="02040502050405020303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Implementation of advanced ensemble ML algorithms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cs typeface="Georgia" panose="02040502050405020303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chemeClr val="tx1"/>
                </a:solidFill>
                <a:latin typeface="Georgia" panose="02040502050405020303" charset="0"/>
                <a:ea typeface="Inter" panose="02000503000000020004" pitchFamily="34" charset="-122"/>
                <a:cs typeface="Georgia" panose="02040502050405020303" charset="0"/>
              </a:rPr>
              <a:t>Development of player comparison tools and budget optimization features</a:t>
            </a:r>
            <a:endParaRPr lang="en-US" sz="1750" dirty="0">
              <a:solidFill>
                <a:schemeClr val="tx1"/>
              </a:solidFill>
              <a:latin typeface="Georgia" panose="02040502050405020303" charset="0"/>
              <a:ea typeface="Inter" panose="02000503000000020004" pitchFamily="34" charset="-122"/>
              <a:cs typeface="Georgia" panose="02040502050405020303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5536565" y="1791970"/>
            <a:ext cx="4147185" cy="396684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2570" y="1791970"/>
            <a:ext cx="4147185" cy="396684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393565" y="2513965"/>
            <a:ext cx="1143000" cy="253174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Shaan/OneDrive/Desktop/Gemini_Generated_Image_y4pv5gy4pv5gy4pv (1).pngGemini_Generated_Image_y4pv5gy4pv5gy4pv (1)"/>
          <p:cNvPicPr>
            <a:picLocks noChangeAspect="1"/>
          </p:cNvPicPr>
          <p:nvPr/>
        </p:nvPicPr>
        <p:blipFill>
          <a:blip r:embed="rId1"/>
          <a:srcRect t="14132" b="1413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370540"/>
            <a:ext cx="7556421" cy="14885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0"/>
              </a:lnSpc>
              <a:buNone/>
            </a:pPr>
            <a:r>
              <a:rPr lang="en-US" sz="935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935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Petrona Bold" pitchFamily="34" charset="0"/>
              <a:ea typeface="Petrona Bold" pitchFamily="34" charset="-122"/>
              <a:cs typeface="Petrona Bold" pitchFamily="34" charset="-120"/>
            </a:endParaRPr>
          </a:p>
        </p:txBody>
      </p:sp>
    </p:spTree>
  </p:cSld>
  <p:clrMapOvr>
    <a:masterClrMapping/>
  </p:clrMapOvr>
  <p:transition spd="med">
    <p:pull/>
  </p:transition>
</p:sld>
</file>

<file path=ppt/tags/tag1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2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3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4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5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6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7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8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9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10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11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12.xml><?xml version="1.0" encoding="utf-8"?>
<p:tagLst xmlns:p="http://schemas.openxmlformats.org/presentationml/2006/main">
  <p:tag name="KSO_WM_DIAGRAM_VIRTUALLY_FRAME" val="{&quot;height&quot;:263.3906299212598,&quot;left&quot;:62.45314960629921,&quot;top&quot;:255.34685039370078,&quot;width&quot;:1027.0437007874018}"/>
</p:tagLst>
</file>

<file path=ppt/tags/tag13.xml><?xml version="1.0" encoding="utf-8"?>
<p:tagLst xmlns:p="http://schemas.openxmlformats.org/presentationml/2006/main">
  <p:tag name="KSO_WM_DIAGRAM_VIRTUALLY_FRAME" val="{&quot;height&quot;:186.45937007874008,&quot;left&quot;:62.50314960629921,&quot;top&quot;:246.8625196850394,&quot;width&quot;:1026.9843307086617}"/>
</p:tagLst>
</file>

<file path=ppt/tags/tag14.xml><?xml version="1.0" encoding="utf-8"?>
<p:tagLst xmlns:p="http://schemas.openxmlformats.org/presentationml/2006/main">
  <p:tag name="KSO_WM_DIAGRAM_VIRTUALLY_FRAME" val="{&quot;height&quot;:186.45937007874008,&quot;left&quot;:62.50314960629921,&quot;top&quot;:246.8625196850394,&quot;width&quot;:1026.9843307086617}"/>
</p:tagLst>
</file>

<file path=ppt/tags/tag15.xml><?xml version="1.0" encoding="utf-8"?>
<p:tagLst xmlns:p="http://schemas.openxmlformats.org/presentationml/2006/main">
  <p:tag name="KSO_WM_DIAGRAM_VIRTUALLY_FRAME" val="{&quot;height&quot;:186.45937007874008,&quot;left&quot;:62.50314960629921,&quot;top&quot;:246.8625196850394,&quot;width&quot;:1026.9843307086617}"/>
</p:tagLst>
</file>

<file path=ppt/tags/tag16.xml><?xml version="1.0" encoding="utf-8"?>
<p:tagLst xmlns:p="http://schemas.openxmlformats.org/presentationml/2006/main">
  <p:tag name="KSO_WM_DIAGRAM_VIRTUALLY_FRAME" val="{&quot;height&quot;:186.45937007874008,&quot;left&quot;:62.50314960629921,&quot;top&quot;:246.8625196850394,&quot;width&quot;:1026.9843307086617}"/>
</p:tagLst>
</file>

<file path=ppt/tags/tag17.xml><?xml version="1.0" encoding="utf-8"?>
<p:tagLst xmlns:p="http://schemas.openxmlformats.org/presentationml/2006/main">
  <p:tag name="KSO_WM_DIAGRAM_VIRTUALLY_FRAME" val="{&quot;height&quot;:186.45937007874008,&quot;left&quot;:62.50314960629921,&quot;top&quot;:246.8625196850394,&quot;width&quot;:1026.9843307086617}"/>
</p:tagLst>
</file>

<file path=ppt/tags/tag18.xml><?xml version="1.0" encoding="utf-8"?>
<p:tagLst xmlns:p="http://schemas.openxmlformats.org/presentationml/2006/main">
  <p:tag name="KSO_WM_DIAGRAM_VIRTUALLY_FRAME" val="{&quot;height&quot;:186.45937007874008,&quot;left&quot;:62.50314960629921,&quot;top&quot;:246.8625196850394,&quot;width&quot;:1026.9843307086617}"/>
</p:tagLst>
</file>

<file path=ppt/tags/tag19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20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21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22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23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24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25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26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27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28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29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30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31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32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33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34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35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36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37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38.xml><?xml version="1.0" encoding="utf-8"?>
<p:tagLst xmlns:p="http://schemas.openxmlformats.org/presentationml/2006/main">
  <p:tag name="KSO_WM_DIAGRAM_VIRTUALLY_FRAME" val="{&quot;height&quot;:567.6562204724411,&quot;left&quot;:-351.84062992125985,&quot;top&quot;:36.999999999999986,&quot;width&quot;:723.3718897637794}"/>
</p:tagLst>
</file>

<file path=ppt/tags/tag39.xml><?xml version="1.0" encoding="utf-8"?>
<p:tagLst xmlns:p="http://schemas.openxmlformats.org/presentationml/2006/main">
  <p:tag name="KSO_WM_DIAGRAM_VIRTUALLY_FRAME" val="{&quot;height&quot;:386.25,&quot;left&quot;:28.25,&quot;top&quot;:116.05,&quot;width&quot;:1046.4}"/>
</p:tagLst>
</file>

<file path=ppt/tags/tag40.xml><?xml version="1.0" encoding="utf-8"?>
<p:tagLst xmlns:p="http://schemas.openxmlformats.org/presentationml/2006/main">
  <p:tag name="KSO_WM_DIAGRAM_VIRTUALLY_FRAME" val="{&quot;height&quot;:386.25,&quot;left&quot;:28.25,&quot;top&quot;:116.05,&quot;width&quot;:1046.4}"/>
</p:tagLst>
</file>

<file path=ppt/tags/tag41.xml><?xml version="1.0" encoding="utf-8"?>
<p:tagLst xmlns:p="http://schemas.openxmlformats.org/presentationml/2006/main">
  <p:tag name="KSO_WM_DIAGRAM_VIRTUALLY_FRAME" val="{&quot;height&quot;:386.25,&quot;left&quot;:28.25,&quot;top&quot;:116.05,&quot;width&quot;:1046.4}"/>
</p:tagLst>
</file>

<file path=ppt/tags/tag42.xml><?xml version="1.0" encoding="utf-8"?>
<p:tagLst xmlns:p="http://schemas.openxmlformats.org/presentationml/2006/main">
  <p:tag name="KSO_WM_DIAGRAM_VIRTUALLY_FRAME" val="{&quot;height&quot;:386.25,&quot;left&quot;:28.25,&quot;top&quot;:116.05,&quot;width&quot;:1046.4}"/>
</p:tagLst>
</file>

<file path=ppt/tags/tag43.xml><?xml version="1.0" encoding="utf-8"?>
<p:tagLst xmlns:p="http://schemas.openxmlformats.org/presentationml/2006/main">
  <p:tag name="KSO_WM_DIAGRAM_VIRTUALLY_FRAME" val="{&quot;height&quot;:386.25,&quot;left&quot;:28.25,&quot;top&quot;:116.05,&quot;width&quot;:1046.4}"/>
</p:tagLst>
</file>

<file path=ppt/tags/tag44.xml><?xml version="1.0" encoding="utf-8"?>
<p:tagLst xmlns:p="http://schemas.openxmlformats.org/presentationml/2006/main">
  <p:tag name="KSO_WM_DIAGRAM_VIRTUALLY_FRAME" val="{&quot;height&quot;:386.25,&quot;left&quot;:28.25,&quot;top&quot;:116.05,&quot;width&quot;:1046.4}"/>
</p:tagLst>
</file>

<file path=ppt/tags/tag45.xml><?xml version="1.0" encoding="utf-8"?>
<p:tagLst xmlns:p="http://schemas.openxmlformats.org/presentationml/2006/main">
  <p:tag name="KSO_WM_DIAGRAM_VIRTUALLY_FRAME" val="{&quot;height&quot;:386.25,&quot;left&quot;:28.25,&quot;top&quot;:116.05,&quot;width&quot;:1046.4}"/>
</p:tagLst>
</file>

<file path=ppt/tags/tag46.xml><?xml version="1.0" encoding="utf-8"?>
<p:tagLst xmlns:p="http://schemas.openxmlformats.org/presentationml/2006/main">
  <p:tag name="KSO_WM_DIAGRAM_VIRTUALLY_FRAME" val="{&quot;height&quot;:386.25,&quot;left&quot;:28.25,&quot;top&quot;:116.05,&quot;width&quot;:1046.4}"/>
</p:tagLst>
</file>

<file path=ppt/tags/tag47.xml><?xml version="1.0" encoding="utf-8"?>
<p:tagLst xmlns:p="http://schemas.openxmlformats.org/presentationml/2006/main">
  <p:tag name="KSO_WM_DIAGRAM_VIRTUALLY_FRAME" val="{&quot;height&quot;:386.25,&quot;left&quot;:28.25,&quot;top&quot;:116.05,&quot;width&quot;:1046.4}"/>
</p:tagLst>
</file>

<file path=ppt/tags/tag48.xml><?xml version="1.0" encoding="utf-8"?>
<p:tagLst xmlns:p="http://schemas.openxmlformats.org/presentationml/2006/main">
  <p:tag name="KSO_WM_DIAGRAM_VIRTUALLY_FRAME" val="{&quot;height&quot;:386.25,&quot;left&quot;:28.25,&quot;top&quot;:116.05,&quot;width&quot;:1046.4}"/>
</p:tagLst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3572</Words>
  <Application>WPS Presentation</Application>
  <PresentationFormat>Custom</PresentationFormat>
  <Paragraphs>190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Georgia</vt:lpstr>
      <vt:lpstr>Petrona Bold</vt:lpstr>
      <vt:lpstr>Segoe Print</vt:lpstr>
      <vt:lpstr>Petrona Bold</vt:lpstr>
      <vt:lpstr>Petrona Bold</vt:lpstr>
      <vt:lpstr>Inter</vt:lpstr>
      <vt:lpstr>Inter</vt:lpstr>
      <vt:lpstr>Inter</vt:lpstr>
      <vt:lpstr>Arial Unicode MS</vt:lpstr>
      <vt:lpstr>Microsoft YaHei</vt:lpstr>
      <vt:lpstr>Calibri</vt:lpstr>
      <vt:lpstr>MingLiU-ExtB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Santanu Das</cp:lastModifiedBy>
  <cp:revision>10</cp:revision>
  <dcterms:created xsi:type="dcterms:W3CDTF">2026-02-09T07:48:00Z</dcterms:created>
  <dcterms:modified xsi:type="dcterms:W3CDTF">2026-02-09T15:40:58Z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81D4678D1EF144CE87B62EE8175A17CA_13</vt:lpwstr>
  </property>
  <property fmtid="{D5CDD505-2E9C-101B-9397-08002B2CF9AE}" pid="3" name="KSOProductBuildVer">
    <vt:lpwstr>2057-12.2.0.23197</vt:lpwstr>
  </property>
</Properties>
</file>