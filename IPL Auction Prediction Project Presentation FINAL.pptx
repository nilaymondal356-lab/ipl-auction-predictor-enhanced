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8.xml" ContentType="application/vnd.openxmlformats-officedocument.presentationml.notesSlide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8" r:id="rId12"/>
    <p:sldId id="269" r:id="rId13"/>
  </p:sldIdLst>
  <p:sldSz cx="14630400" cy="8229600"/>
  <p:notesSz cx="8229600" cy="14630400"/>
  <p:embeddedFontLst>
    <p:embeddedFont>
      <p:font typeface="Georgia" panose="02040502050405020303" pitchFamily="18" charset="0"/>
      <p:regular r:id="rId15"/>
      <p:bold r:id="rId16"/>
      <p:italic r:id="rId17"/>
      <p:boldItalic r:id="rId18"/>
    </p:embeddedFont>
    <p:embeddedFont>
      <p:font typeface="Inter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97" autoAdjust="0"/>
    <p:restoredTop sz="94610"/>
  </p:normalViewPr>
  <p:slideViewPr>
    <p:cSldViewPr snapToGrid="0" snapToObjects="1">
      <p:cViewPr>
        <p:scale>
          <a:sx n="50" d="100"/>
          <a:sy n="50" d="100"/>
        </p:scale>
        <p:origin x="12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关系图"/>
          <p:cNvPicPr>
            <a:picLocks noChangeAspect="1"/>
          </p:cNvPicPr>
          <p:nvPr/>
        </p:nvPicPr>
        <p:blipFill>
          <a:blip r:embed="rId2"/>
          <a:srcRect r="2528" b="10909"/>
          <a:stretch>
            <a:fillRect/>
          </a:stretch>
        </p:blipFill>
        <p:spPr>
          <a:xfrm>
            <a:off x="287021" y="830580"/>
            <a:ext cx="14262099" cy="733234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2541" y="659130"/>
            <a:ext cx="14630400" cy="1813560"/>
          </a:xfrm>
          <a:prstGeom prst="rect">
            <a:avLst/>
          </a:prstGeom>
          <a:gradFill rotWithShape="0">
            <a:gsLst>
              <a:gs pos="0">
                <a:schemeClr val="bg2">
                  <a:gamma/>
                  <a:tint val="0"/>
                  <a:invGamma/>
                </a:schemeClr>
              </a:gs>
              <a:gs pos="100000">
                <a:schemeClr val="bg2">
                  <a:alpha val="53999"/>
                </a:schemeClr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16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053080" y="2990850"/>
            <a:ext cx="8872221" cy="1466850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zh-CN" noProof="0"/>
              <a:t>Click to edit Master subtitle style</a:t>
            </a:r>
          </a:p>
        </p:txBody>
      </p:sp>
      <p:sp>
        <p:nvSpPr>
          <p:cNvPr id="2056" name="Rectangle 8"/>
          <p:cNvSpPr>
            <a:spLocks noGrp="1" noChangeArrowheads="1"/>
          </p:cNvSpPr>
          <p:nvPr>
            <p:ph type="ctrTitle"/>
          </p:nvPr>
        </p:nvSpPr>
        <p:spPr>
          <a:xfrm>
            <a:off x="1209040" y="744856"/>
            <a:ext cx="12435840" cy="1764030"/>
          </a:xfrm>
        </p:spPr>
        <p:txBody>
          <a:bodyPr/>
          <a:lstStyle>
            <a:lvl1pPr>
              <a:defRPr sz="4320"/>
            </a:lvl1pPr>
          </a:lstStyle>
          <a:p>
            <a:pPr lvl="0"/>
            <a:r>
              <a:rPr lang="en-US" altLang="zh-CN" noProof="0"/>
              <a:t>Click to edit Master title style</a:t>
            </a:r>
          </a:p>
        </p:txBody>
      </p:sp>
      <p:sp>
        <p:nvSpPr>
          <p:cNvPr id="11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20" y="7494270"/>
            <a:ext cx="341376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12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720" y="7494270"/>
            <a:ext cx="463296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120" y="7494270"/>
            <a:ext cx="341376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98182F0-CF90-4D8B-A51C-796537115A5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</p:bldLst>
  </p:timing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5507356"/>
            <a:ext cx="12618720" cy="1800224"/>
          </a:xfrm>
        </p:spPr>
        <p:txBody>
          <a:bodyPr/>
          <a:lstStyle>
            <a:lvl1pPr marL="0" indent="0">
              <a:buNone/>
              <a:defRPr sz="2880"/>
            </a:lvl1pPr>
            <a:lvl2pPr marL="548640" indent="0">
              <a:buNone/>
              <a:defRPr sz="2400"/>
            </a:lvl2pPr>
            <a:lvl3pPr marL="1097280" indent="0">
              <a:buNone/>
              <a:defRPr sz="216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920240"/>
            <a:ext cx="6461760" cy="5431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120" y="1920240"/>
            <a:ext cx="6461760" cy="5431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381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381" y="2017396"/>
            <a:ext cx="6189979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381" y="3006090"/>
            <a:ext cx="6189979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20461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20461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C8E8E-58DE-4BEE-BE52-68F5EB94869F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91BF9C-0C2C-498E-B2D1-954EBF08AFA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381" y="548640"/>
            <a:ext cx="4719320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461" y="1184910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381" y="2468880"/>
            <a:ext cx="4719320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381" y="548640"/>
            <a:ext cx="4719320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461" y="1184910"/>
            <a:ext cx="7406640" cy="584835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381" y="2468880"/>
            <a:ext cx="4719320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040" y="329566"/>
            <a:ext cx="3291840" cy="70218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20" y="329566"/>
            <a:ext cx="9631680" cy="70218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2541" y="400050"/>
            <a:ext cx="14630400" cy="1211580"/>
          </a:xfrm>
          <a:prstGeom prst="rect">
            <a:avLst/>
          </a:prstGeom>
          <a:gradFill rotWithShape="0">
            <a:gsLst>
              <a:gs pos="0">
                <a:schemeClr val="bg2">
                  <a:gamma/>
                  <a:tint val="0"/>
                  <a:invGamma/>
                </a:schemeClr>
              </a:gs>
              <a:gs pos="100000">
                <a:schemeClr val="bg2">
                  <a:alpha val="53999"/>
                </a:schemeClr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16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pic>
        <p:nvPicPr>
          <p:cNvPr id="1027" name="Picture 3" descr="关系图"/>
          <p:cNvPicPr>
            <a:picLocks noChangeAspect="1"/>
          </p:cNvPicPr>
          <p:nvPr/>
        </p:nvPicPr>
        <p:blipFill>
          <a:blip r:embed="rId14"/>
          <a:srcRect t="1094" r="8122" b="13318"/>
          <a:stretch>
            <a:fillRect/>
          </a:stretch>
        </p:blipFill>
        <p:spPr>
          <a:xfrm>
            <a:off x="9276080" y="5326380"/>
            <a:ext cx="5344160" cy="2800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8" name="Rectangle 4"/>
          <p:cNvSpPr>
            <a:spLocks noGrp="1"/>
          </p:cNvSpPr>
          <p:nvPr>
            <p:ph type="title"/>
          </p:nvPr>
        </p:nvSpPr>
        <p:spPr>
          <a:xfrm>
            <a:off x="731520" y="329566"/>
            <a:ext cx="13167360" cy="13716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lang="en-US" altLang="zh-CN" dirty="0"/>
              <a:t>Click to edit Master title style</a:t>
            </a:r>
          </a:p>
        </p:txBody>
      </p:sp>
      <p:sp>
        <p:nvSpPr>
          <p:cNvPr id="1029" name="Rectangle 5"/>
          <p:cNvSpPr>
            <a:spLocks noGrp="1"/>
          </p:cNvSpPr>
          <p:nvPr>
            <p:ph type="body" idx="1"/>
          </p:nvPr>
        </p:nvSpPr>
        <p:spPr>
          <a:xfrm>
            <a:off x="731520" y="1920240"/>
            <a:ext cx="13167360" cy="5431156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20" y="7494270"/>
            <a:ext cx="3413760" cy="57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680"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720" y="7494270"/>
            <a:ext cx="4632960" cy="57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680"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1032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120" y="7494270"/>
            <a:ext cx="3413760" cy="57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680"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3831447-C893-4FB7-A405-85B25DF4EE90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  <a:t>‹#›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14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6" grpId="0" bldLvl="0" animBg="1"/>
      <p:bldP spid="1028" grpId="0" bldLvl="0"/>
    </p:bldLst>
  </p:timing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528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411480" indent="-411480" algn="l" rtl="0" fontAlgn="base">
        <a:spcBef>
          <a:spcPct val="24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1pPr>
      <a:lvl2pPr marL="891540" indent="-342900" algn="l" rtl="0" fontAlgn="base">
        <a:spcBef>
          <a:spcPct val="24000"/>
        </a:spcBef>
        <a:spcAft>
          <a:spcPct val="0"/>
        </a:spcAft>
        <a:buChar char="–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rtl="0" fontAlgn="base">
        <a:spcBef>
          <a:spcPct val="24000"/>
        </a:spcBef>
        <a:spcAft>
          <a:spcPct val="0"/>
        </a:spcAft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rtl="0" fontAlgn="base">
        <a:spcBef>
          <a:spcPct val="24000"/>
        </a:spcBef>
        <a:spcAft>
          <a:spcPct val="0"/>
        </a:spcAft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rtl="0" fontAlgn="base">
        <a:spcBef>
          <a:spcPct val="24000"/>
        </a:spcBef>
        <a:spcAft>
          <a:spcPct val="0"/>
        </a:spcAft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slideLayout" Target="../slideLayouts/slideLayout12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.xml"/><Relationship Id="rId3" Type="http://schemas.openxmlformats.org/officeDocument/2006/relationships/tags" Target="../tags/tag15.xml"/><Relationship Id="rId7" Type="http://schemas.openxmlformats.org/officeDocument/2006/relationships/slideLayout" Target="../slideLayouts/slideLayout12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26.xml"/><Relationship Id="rId13" Type="http://schemas.openxmlformats.org/officeDocument/2006/relationships/tags" Target="../tags/tag31.xml"/><Relationship Id="rId18" Type="http://schemas.openxmlformats.org/officeDocument/2006/relationships/tags" Target="../tags/tag36.xml"/><Relationship Id="rId26" Type="http://schemas.openxmlformats.org/officeDocument/2006/relationships/image" Target="../media/image11.png"/><Relationship Id="rId3" Type="http://schemas.openxmlformats.org/officeDocument/2006/relationships/tags" Target="../tags/tag21.xml"/><Relationship Id="rId21" Type="http://schemas.openxmlformats.org/officeDocument/2006/relationships/slideLayout" Target="../slideLayouts/slideLayout12.xml"/><Relationship Id="rId7" Type="http://schemas.openxmlformats.org/officeDocument/2006/relationships/tags" Target="../tags/tag25.xml"/><Relationship Id="rId12" Type="http://schemas.openxmlformats.org/officeDocument/2006/relationships/tags" Target="../tags/tag30.xml"/><Relationship Id="rId17" Type="http://schemas.openxmlformats.org/officeDocument/2006/relationships/tags" Target="../tags/tag35.xml"/><Relationship Id="rId25" Type="http://schemas.openxmlformats.org/officeDocument/2006/relationships/image" Target="../media/image10.png"/><Relationship Id="rId2" Type="http://schemas.openxmlformats.org/officeDocument/2006/relationships/tags" Target="../tags/tag20.xml"/><Relationship Id="rId16" Type="http://schemas.openxmlformats.org/officeDocument/2006/relationships/tags" Target="../tags/tag34.xml"/><Relationship Id="rId20" Type="http://schemas.openxmlformats.org/officeDocument/2006/relationships/tags" Target="../tags/tag38.xml"/><Relationship Id="rId1" Type="http://schemas.openxmlformats.org/officeDocument/2006/relationships/tags" Target="../tags/tag19.xml"/><Relationship Id="rId6" Type="http://schemas.openxmlformats.org/officeDocument/2006/relationships/tags" Target="../tags/tag24.xml"/><Relationship Id="rId11" Type="http://schemas.openxmlformats.org/officeDocument/2006/relationships/tags" Target="../tags/tag29.xml"/><Relationship Id="rId24" Type="http://schemas.openxmlformats.org/officeDocument/2006/relationships/image" Target="../media/image9.svg"/><Relationship Id="rId5" Type="http://schemas.openxmlformats.org/officeDocument/2006/relationships/tags" Target="../tags/tag23.xml"/><Relationship Id="rId15" Type="http://schemas.openxmlformats.org/officeDocument/2006/relationships/tags" Target="../tags/tag33.xml"/><Relationship Id="rId23" Type="http://schemas.openxmlformats.org/officeDocument/2006/relationships/image" Target="../media/image8.png"/><Relationship Id="rId10" Type="http://schemas.openxmlformats.org/officeDocument/2006/relationships/tags" Target="../tags/tag28.xml"/><Relationship Id="rId19" Type="http://schemas.openxmlformats.org/officeDocument/2006/relationships/tags" Target="../tags/tag37.xml"/><Relationship Id="rId4" Type="http://schemas.openxmlformats.org/officeDocument/2006/relationships/tags" Target="../tags/tag22.xml"/><Relationship Id="rId9" Type="http://schemas.openxmlformats.org/officeDocument/2006/relationships/tags" Target="../tags/tag27.xml"/><Relationship Id="rId14" Type="http://schemas.openxmlformats.org/officeDocument/2006/relationships/tags" Target="../tags/tag32.xml"/><Relationship Id="rId22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46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12" Type="http://schemas.openxmlformats.org/officeDocument/2006/relationships/notesSlide" Target="../notesSlides/notesSlide9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11" Type="http://schemas.openxmlformats.org/officeDocument/2006/relationships/slideLayout" Target="../slideLayouts/slideLayout12.xml"/><Relationship Id="rId5" Type="http://schemas.openxmlformats.org/officeDocument/2006/relationships/tags" Target="../tags/tag43.xml"/><Relationship Id="rId10" Type="http://schemas.openxmlformats.org/officeDocument/2006/relationships/tags" Target="../tags/tag48.xml"/><Relationship Id="rId4" Type="http://schemas.openxmlformats.org/officeDocument/2006/relationships/tags" Target="../tags/tag42.xml"/><Relationship Id="rId9" Type="http://schemas.openxmlformats.org/officeDocument/2006/relationships/tags" Target="../tags/tag4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4630400" cy="8229601"/>
          </a:xfrm>
          <a:prstGeom prst="rect">
            <a:avLst/>
          </a:prstGeom>
        </p:spPr>
      </p:pic>
      <p:sp>
        <p:nvSpPr>
          <p:cNvPr id="6" name="Rectangle: Rounded Corners 5"/>
          <p:cNvSpPr/>
          <p:nvPr/>
        </p:nvSpPr>
        <p:spPr>
          <a:xfrm>
            <a:off x="349250" y="237490"/>
            <a:ext cx="13969365" cy="7661275"/>
          </a:xfrm>
          <a:prstGeom prst="roundRect">
            <a:avLst>
              <a:gd name="adj" fmla="val 14767"/>
            </a:avLst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2060614"/>
              </p:ext>
            </p:extLst>
          </p:nvPr>
        </p:nvGraphicFramePr>
        <p:xfrm>
          <a:off x="906019" y="3856096"/>
          <a:ext cx="12508991" cy="3337149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1812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5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12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196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Name</a:t>
                      </a:r>
                    </a:p>
                  </a:txBody>
                  <a:tcPr marL="109728" marR="109728" marT="54864" marB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University Roll Number</a:t>
                      </a:r>
                    </a:p>
                  </a:txBody>
                  <a:tcPr marL="109728" marR="109728" marT="54864" marB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Email ID</a:t>
                      </a:r>
                    </a:p>
                  </a:txBody>
                  <a:tcPr marL="109728" marR="109728" marT="54864" marB="5486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196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Nilay Mandal</a:t>
                      </a:r>
                    </a:p>
                  </a:txBody>
                  <a:tcPr marL="109728" marR="109728" marT="54864" marB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10300224228</a:t>
                      </a:r>
                    </a:p>
                  </a:txBody>
                  <a:tcPr marL="109728" marR="109728" marT="54864" marB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nilaymondal356@gmail.com</a:t>
                      </a:r>
                    </a:p>
                  </a:txBody>
                  <a:tcPr marL="109728" marR="109728" marT="54864" marB="5486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196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Santanu Das</a:t>
                      </a:r>
                    </a:p>
                  </a:txBody>
                  <a:tcPr marL="109728" marR="109728" marT="54864" marB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10300224232</a:t>
                      </a:r>
                    </a:p>
                  </a:txBody>
                  <a:tcPr marL="109728" marR="109728" marT="54864" marB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santanudas.collegemail@gmail.com</a:t>
                      </a:r>
                    </a:p>
                  </a:txBody>
                  <a:tcPr marL="109728" marR="109728" marT="54864" marB="5486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196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Priyabrata Sen</a:t>
                      </a:r>
                    </a:p>
                  </a:txBody>
                  <a:tcPr marL="109728" marR="109728" marT="54864" marB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10300224230</a:t>
                      </a:r>
                    </a:p>
                  </a:txBody>
                  <a:tcPr marL="109728" marR="109728" marT="54864" marB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Georgia" panose="02040502050405020303" charset="0"/>
                          <a:cs typeface="Georgia" panose="02040502050405020303" charset="0"/>
                        </a:rPr>
                        <a:t>senpriyabrata2003@gmail.com</a:t>
                      </a:r>
                    </a:p>
                  </a:txBody>
                  <a:tcPr marL="109728" marR="109728" marT="54864" marB="5486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217803" y="161290"/>
            <a:ext cx="1250899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b="1" dirty="0">
                <a:solidFill>
                  <a:schemeClr val="bg1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IPL AUCTION PRICE PREDICTOR </a:t>
            </a:r>
            <a:endParaRPr lang="en-US" altLang="en-US" sz="105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solidFill>
                  <a:schemeClr val="bg1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Predict debuting IPL players auction prices using machine learning with multiple parameters   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17365D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Session:2025-2026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i="1" dirty="0">
                <a:solidFill>
                  <a:srgbClr val="17365D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DEPARTMENT OF INFORMATION TECHNOLOGY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i="1" dirty="0">
                <a:solidFill>
                  <a:srgbClr val="17365D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HALDIA INSTITUTE OF TECHNOLOGY</a:t>
            </a:r>
            <a:endParaRPr lang="en-US" altLang="en-US" dirty="0">
              <a:latin typeface="Arial" panose="020B0604020202020204" pitchFamily="34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17365D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Submitted To: Debasish Sahoo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alphaModFix amt="44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" r="63425"/>
          <a:stretch>
            <a:fillRect/>
          </a:stretch>
        </p:blipFill>
        <p:spPr>
          <a:xfrm>
            <a:off x="11745402" y="459284"/>
            <a:ext cx="1414274" cy="3844110"/>
          </a:xfrm>
          <a:prstGeom prst="rect">
            <a:avLst/>
          </a:prstGeom>
        </p:spPr>
      </p:pic>
      <p:sp>
        <p:nvSpPr>
          <p:cNvPr id="2" name="6-Point Star 1"/>
          <p:cNvSpPr/>
          <p:nvPr/>
        </p:nvSpPr>
        <p:spPr>
          <a:xfrm>
            <a:off x="13726795" y="7333615"/>
            <a:ext cx="549275" cy="641350"/>
          </a:xfrm>
          <a:prstGeom prst="star6">
            <a:avLst/>
          </a:prstGeom>
        </p:spPr>
        <p:style>
          <a:lnRef idx="0">
            <a:srgbClr val="FFFFFF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B516B-4BDC-3028-FAE3-70403EFEE4AE}"/>
              </a:ext>
            </a:extLst>
          </p:cNvPr>
          <p:cNvSpPr txBox="1"/>
          <p:nvPr/>
        </p:nvSpPr>
        <p:spPr>
          <a:xfrm>
            <a:off x="4895215" y="3293802"/>
            <a:ext cx="48641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17365D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Submitted By:</a:t>
            </a:r>
            <a:endParaRPr lang="en-US" altLang="en-US" sz="1100" dirty="0"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24F371D-075A-7B85-C717-07E60BC030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90" y="1321988"/>
            <a:ext cx="2025788" cy="1828588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Shaan/OneDrive/Desktop/auctiontop.jpgauctiontop"/>
          <p:cNvPicPr>
            <a:picLocks noChangeAspect="1"/>
          </p:cNvPicPr>
          <p:nvPr/>
        </p:nvPicPr>
        <p:blipFill>
          <a:blip r:embed="rId3"/>
          <a:srcRect l="31250" r="31250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2925" y="1618615"/>
            <a:ext cx="8057515" cy="1488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IPL Auction Price Prediction System</a:t>
            </a:r>
          </a:p>
        </p:txBody>
      </p:sp>
      <p:sp>
        <p:nvSpPr>
          <p:cNvPr id="4" name="Text 1"/>
          <p:cNvSpPr/>
          <p:nvPr/>
        </p:nvSpPr>
        <p:spPr>
          <a:xfrm>
            <a:off x="363895" y="3523813"/>
            <a:ext cx="75564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A machine learning-powered solution for data-driven player valuation in the Indian Premier League</a:t>
            </a:r>
          </a:p>
          <a:p>
            <a:pPr marL="0" indent="0" algn="l">
              <a:lnSpc>
                <a:spcPts val="2850"/>
              </a:lnSpc>
              <a:buNone/>
            </a:pPr>
            <a:endParaRPr lang="en-US" sz="1750" dirty="0">
              <a:solidFill>
                <a:schemeClr val="tx1"/>
              </a:solidFill>
              <a:latin typeface="Georgia" panose="02040502050405020303" charset="0"/>
              <a:ea typeface="Inter" panose="02000503000000020004" pitchFamily="34" charset="-122"/>
              <a:cs typeface="Georgia" panose="02040502050405020303" charset="0"/>
            </a:endParaRP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altLang="en-GB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Objective: Optimize franchise budget allocation using historical performance metrics.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altLang="en-GB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Methodology: Predictive modeling via the Gaussian Naive Bayes algorithm.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altLang="en-GB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Impact: Real-time valuation of "uncapped" and "star" players to minimize auction risks.</a:t>
            </a: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73" y="151209"/>
            <a:ext cx="1326237" cy="412313"/>
          </a:xfrm>
          <a:prstGeom prst="roundRect">
            <a:avLst>
              <a:gd name="adj" fmla="val 18030"/>
            </a:avLst>
          </a:prstGeom>
          <a:solidFill>
            <a:srgbClr val="1C113B"/>
          </a:solidFill>
        </p:spPr>
      </p:sp>
      <p:sp>
        <p:nvSpPr>
          <p:cNvPr id="3" name="Text 1"/>
          <p:cNvSpPr/>
          <p:nvPr/>
        </p:nvSpPr>
        <p:spPr>
          <a:xfrm>
            <a:off x="264279" y="195302"/>
            <a:ext cx="1060966" cy="2796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CHALLENGE</a:t>
            </a:r>
          </a:p>
        </p:txBody>
      </p:sp>
      <p:sp>
        <p:nvSpPr>
          <p:cNvPr id="4" name="Text 2"/>
          <p:cNvSpPr/>
          <p:nvPr/>
        </p:nvSpPr>
        <p:spPr>
          <a:xfrm>
            <a:off x="1547058" y="693658"/>
            <a:ext cx="6152793" cy="7259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700"/>
              </a:lnSpc>
              <a:buNone/>
            </a:pPr>
            <a:r>
              <a:rPr lang="en-US" sz="45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Valuation Problem</a:t>
            </a:r>
          </a:p>
        </p:txBody>
      </p:sp>
      <p:sp>
        <p:nvSpPr>
          <p:cNvPr id="5" name="Text 3"/>
          <p:cNvSpPr/>
          <p:nvPr/>
        </p:nvSpPr>
        <p:spPr>
          <a:xfrm>
            <a:off x="774263" y="2699028"/>
            <a:ext cx="4227671" cy="20974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IPL auction prices are influenced by numerous performance factors, making accurate valuation complex. Traditional manual approaches introduce subjectivity and inconsistency across team evaluations.</a:t>
            </a:r>
          </a:p>
        </p:txBody>
      </p:sp>
      <p:sp>
        <p:nvSpPr>
          <p:cNvPr id="6" name="Text 4"/>
          <p:cNvSpPr/>
          <p:nvPr/>
        </p:nvSpPr>
        <p:spPr>
          <a:xfrm>
            <a:off x="774263" y="4990624"/>
            <a:ext cx="4227671" cy="20974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Teams need a systematic, data-driven valuation framework to make informed bidding decisions. Machine learning offers an automated solution to predict auction prices based on comprehensive performance analysis.</a:t>
            </a:r>
          </a:p>
        </p:txBody>
      </p:sp>
      <p:pic>
        <p:nvPicPr>
          <p:cNvPr id="7" name="Image 0" descr="C:/Users/Shaan/OneDrive/Desktop/Gemini_Generated_Image_ts4wo5ts4wo5ts4w (1).pngGemini_Generated_Image_ts4wo5ts4wo5ts4w (1)"/>
          <p:cNvPicPr>
            <a:picLocks noChangeAspect="1"/>
          </p:cNvPicPr>
          <p:nvPr/>
        </p:nvPicPr>
        <p:blipFill>
          <a:blip r:embed="rId3"/>
          <a:srcRect l="1828" r="1828"/>
          <a:stretch>
            <a:fillRect/>
          </a:stretch>
        </p:blipFill>
        <p:spPr>
          <a:xfrm>
            <a:off x="5351145" y="1974850"/>
            <a:ext cx="8422005" cy="5819775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670" y="1641475"/>
            <a:ext cx="1353185" cy="426085"/>
          </a:xfrm>
          <a:prstGeom prst="roundRect">
            <a:avLst>
              <a:gd name="adj" fmla="val 17880"/>
            </a:avLst>
          </a:prstGeom>
          <a:solidFill>
            <a:srgbClr val="1C113B"/>
          </a:solidFill>
        </p:spPr>
      </p:sp>
      <p:sp>
        <p:nvSpPr>
          <p:cNvPr id="4" name="Text 1"/>
          <p:cNvSpPr/>
          <p:nvPr/>
        </p:nvSpPr>
        <p:spPr>
          <a:xfrm>
            <a:off x="1227455" y="1696164"/>
            <a:ext cx="1118473" cy="2902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OBJECTIVES</a:t>
            </a:r>
          </a:p>
        </p:txBody>
      </p:sp>
      <p:sp>
        <p:nvSpPr>
          <p:cNvPr id="5" name="Text 2"/>
          <p:cNvSpPr/>
          <p:nvPr/>
        </p:nvSpPr>
        <p:spPr>
          <a:xfrm>
            <a:off x="4296450" y="1999734"/>
            <a:ext cx="5954197" cy="7442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 Goals</a:t>
            </a:r>
          </a:p>
        </p:txBody>
      </p:sp>
      <p:sp>
        <p:nvSpPr>
          <p:cNvPr id="6" name="Shape 3"/>
          <p:cNvSpPr/>
          <p:nvPr>
            <p:custDataLst>
              <p:tags r:id="rId1"/>
            </p:custDataLst>
          </p:nvPr>
        </p:nvSpPr>
        <p:spPr>
          <a:xfrm>
            <a:off x="793155" y="3242905"/>
            <a:ext cx="3090505" cy="3345061"/>
          </a:xfrm>
          <a:prstGeom prst="roundRect">
            <a:avLst>
              <a:gd name="adj" fmla="val 3083"/>
            </a:avLst>
          </a:prstGeom>
        </p:spPr>
        <p:style>
          <a:lnRef idx="3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9" name="Text 4"/>
          <p:cNvSpPr/>
          <p:nvPr>
            <p:custDataLst>
              <p:tags r:id="rId2"/>
            </p:custDataLst>
          </p:nvPr>
        </p:nvSpPr>
        <p:spPr>
          <a:xfrm>
            <a:off x="929799" y="3457496"/>
            <a:ext cx="2621637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Debut Player Focus</a:t>
            </a:r>
          </a:p>
        </p:txBody>
      </p:sp>
      <p:sp>
        <p:nvSpPr>
          <p:cNvPr id="10" name="Text 5"/>
          <p:cNvSpPr/>
          <p:nvPr>
            <p:custDataLst>
              <p:tags r:id="rId3"/>
            </p:custDataLst>
          </p:nvPr>
        </p:nvSpPr>
        <p:spPr>
          <a:xfrm>
            <a:off x="965994" y="4201874"/>
            <a:ext cx="2621637" cy="14516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Predict IPL auction prices for first-time players entering the league</a:t>
            </a:r>
          </a:p>
        </p:txBody>
      </p:sp>
      <p:sp>
        <p:nvSpPr>
          <p:cNvPr id="11" name="Shape 6"/>
          <p:cNvSpPr/>
          <p:nvPr>
            <p:custDataLst>
              <p:tags r:id="rId4"/>
            </p:custDataLst>
          </p:nvPr>
        </p:nvSpPr>
        <p:spPr>
          <a:xfrm>
            <a:off x="4059039" y="3242905"/>
            <a:ext cx="3090624" cy="3345061"/>
          </a:xfrm>
          <a:prstGeom prst="roundRect">
            <a:avLst>
              <a:gd name="adj" fmla="val 3082"/>
            </a:avLst>
          </a:prstGeom>
        </p:spPr>
        <p:style>
          <a:lnRef idx="3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pPr algn="l"/>
            <a:endParaRPr lang="en-GB" altLang="en-US"/>
          </a:p>
        </p:txBody>
      </p:sp>
      <p:sp>
        <p:nvSpPr>
          <p:cNvPr id="14" name="Text 7"/>
          <p:cNvSpPr/>
          <p:nvPr>
            <p:custDataLst>
              <p:tags r:id="rId5"/>
            </p:custDataLst>
          </p:nvPr>
        </p:nvSpPr>
        <p:spPr>
          <a:xfrm>
            <a:off x="4394835" y="3457575"/>
            <a:ext cx="3382645" cy="7442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altLang="en-GB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Comp. Analysis</a:t>
            </a:r>
          </a:p>
        </p:txBody>
      </p:sp>
      <p:sp>
        <p:nvSpPr>
          <p:cNvPr id="15" name="Text 8"/>
          <p:cNvSpPr/>
          <p:nvPr>
            <p:custDataLst>
              <p:tags r:id="rId6"/>
            </p:custDataLst>
          </p:nvPr>
        </p:nvSpPr>
        <p:spPr>
          <a:xfrm>
            <a:off x="4296648" y="4335185"/>
            <a:ext cx="2621756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Evaluate 32 distinct player performance parameters</a:t>
            </a:r>
          </a:p>
        </p:txBody>
      </p:sp>
      <p:sp>
        <p:nvSpPr>
          <p:cNvPr id="16" name="Shape 9"/>
          <p:cNvSpPr/>
          <p:nvPr>
            <p:custDataLst>
              <p:tags r:id="rId7"/>
            </p:custDataLst>
          </p:nvPr>
        </p:nvSpPr>
        <p:spPr>
          <a:xfrm>
            <a:off x="7443788" y="3242905"/>
            <a:ext cx="3090624" cy="3345061"/>
          </a:xfrm>
          <a:prstGeom prst="roundRect">
            <a:avLst>
              <a:gd name="adj" fmla="val 3082"/>
            </a:avLst>
          </a:prstGeom>
        </p:spPr>
        <p:style>
          <a:lnRef idx="3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19" name="Text 10"/>
          <p:cNvSpPr/>
          <p:nvPr>
            <p:custDataLst>
              <p:tags r:id="rId8"/>
            </p:custDataLst>
          </p:nvPr>
        </p:nvSpPr>
        <p:spPr>
          <a:xfrm>
            <a:off x="7608570" y="3457575"/>
            <a:ext cx="3103245" cy="7442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Confidence Scoring</a:t>
            </a:r>
          </a:p>
        </p:txBody>
      </p:sp>
      <p:sp>
        <p:nvSpPr>
          <p:cNvPr id="20" name="Text 11"/>
          <p:cNvSpPr/>
          <p:nvPr>
            <p:custDataLst>
              <p:tags r:id="rId9"/>
            </p:custDataLst>
          </p:nvPr>
        </p:nvSpPr>
        <p:spPr>
          <a:xfrm>
            <a:off x="7668062" y="4335185"/>
            <a:ext cx="2621756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Provide price ranges with statistical confidence levels</a:t>
            </a:r>
          </a:p>
        </p:txBody>
      </p:sp>
      <p:sp>
        <p:nvSpPr>
          <p:cNvPr id="21" name="Shape 12"/>
          <p:cNvSpPr/>
          <p:nvPr>
            <p:custDataLst>
              <p:tags r:id="rId10"/>
            </p:custDataLst>
          </p:nvPr>
        </p:nvSpPr>
        <p:spPr>
          <a:xfrm>
            <a:off x="10745986" y="3242905"/>
            <a:ext cx="3090624" cy="3345061"/>
          </a:xfrm>
          <a:prstGeom prst="roundRect">
            <a:avLst>
              <a:gd name="adj" fmla="val 3082"/>
            </a:avLst>
          </a:prstGeom>
        </p:spPr>
        <p:style>
          <a:lnRef idx="3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4" name="Text 13"/>
          <p:cNvSpPr/>
          <p:nvPr>
            <p:custDataLst>
              <p:tags r:id="rId11"/>
            </p:custDataLst>
          </p:nvPr>
        </p:nvSpPr>
        <p:spPr>
          <a:xfrm>
            <a:off x="10943590" y="3457496"/>
            <a:ext cx="2621756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Web Platform</a:t>
            </a:r>
          </a:p>
        </p:txBody>
      </p:sp>
      <p:sp>
        <p:nvSpPr>
          <p:cNvPr id="25" name="Text 14"/>
          <p:cNvSpPr/>
          <p:nvPr>
            <p:custDataLst>
              <p:tags r:id="rId12"/>
            </p:custDataLst>
          </p:nvPr>
        </p:nvSpPr>
        <p:spPr>
          <a:xfrm>
            <a:off x="10980420" y="4417774"/>
            <a:ext cx="2621756" cy="10887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Deliver an intuitive, user-friendly web application</a:t>
            </a:r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518523"/>
            <a:ext cx="1220986" cy="441484"/>
          </a:xfrm>
          <a:prstGeom prst="roundRect">
            <a:avLst>
              <a:gd name="adj" fmla="val 17263"/>
            </a:avLst>
          </a:prstGeom>
          <a:solidFill>
            <a:schemeClr val="accent2">
              <a:lumMod val="50000"/>
            </a:schemeClr>
          </a:solidFill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</p:sp>
      <p:sp>
        <p:nvSpPr>
          <p:cNvPr id="3" name="Text 1"/>
          <p:cNvSpPr/>
          <p:nvPr/>
        </p:nvSpPr>
        <p:spPr>
          <a:xfrm>
            <a:off x="967978" y="1568728"/>
            <a:ext cx="933569" cy="2902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SOLUTION</a:t>
            </a:r>
          </a:p>
        </p:txBody>
      </p:sp>
      <p:sp>
        <p:nvSpPr>
          <p:cNvPr id="4" name="Text 2"/>
          <p:cNvSpPr/>
          <p:nvPr/>
        </p:nvSpPr>
        <p:spPr>
          <a:xfrm>
            <a:off x="793790" y="2050733"/>
            <a:ext cx="5954197" cy="7442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Our Approach</a:t>
            </a:r>
          </a:p>
        </p:txBody>
      </p:sp>
      <p:sp>
        <p:nvSpPr>
          <p:cNvPr id="6" name="Text 3"/>
          <p:cNvSpPr/>
          <p:nvPr>
            <p:custDataLst>
              <p:tags r:id="rId1"/>
            </p:custDataLst>
          </p:nvPr>
        </p:nvSpPr>
        <p:spPr>
          <a:xfrm>
            <a:off x="1020604" y="4269224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IN" alt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1. </a:t>
            </a: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Input</a:t>
            </a:r>
          </a:p>
        </p:txBody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1020604" y="4777383"/>
            <a:ext cx="3893939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Domestic cricket performance statistics</a:t>
            </a:r>
          </a:p>
        </p:txBody>
      </p:sp>
      <p:sp>
        <p:nvSpPr>
          <p:cNvPr id="9" name="Text 5"/>
          <p:cNvSpPr/>
          <p:nvPr>
            <p:custDataLst>
              <p:tags r:id="rId3"/>
            </p:custDataLst>
          </p:nvPr>
        </p:nvSpPr>
        <p:spPr>
          <a:xfrm>
            <a:off x="5368171" y="4269224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IN" alt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2. </a:t>
            </a: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Processing</a:t>
            </a:r>
          </a:p>
        </p:txBody>
      </p:sp>
      <p:sp>
        <p:nvSpPr>
          <p:cNvPr id="10" name="Text 6"/>
          <p:cNvSpPr/>
          <p:nvPr>
            <p:custDataLst>
              <p:tags r:id="rId4"/>
            </p:custDataLst>
          </p:nvPr>
        </p:nvSpPr>
        <p:spPr>
          <a:xfrm>
            <a:off x="5368171" y="4777383"/>
            <a:ext cx="389393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Advanced prediction algorithms</a:t>
            </a:r>
          </a:p>
        </p:txBody>
      </p:sp>
      <p:sp>
        <p:nvSpPr>
          <p:cNvPr id="12" name="Text 7"/>
          <p:cNvSpPr/>
          <p:nvPr>
            <p:custDataLst>
              <p:tags r:id="rId5"/>
            </p:custDataLst>
          </p:nvPr>
        </p:nvSpPr>
        <p:spPr>
          <a:xfrm>
            <a:off x="9715738" y="4269224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IN" alt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3. </a:t>
            </a: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Real-Time Output</a:t>
            </a:r>
          </a:p>
        </p:txBody>
      </p:sp>
      <p:sp>
        <p:nvSpPr>
          <p:cNvPr id="13" name="Text 8"/>
          <p:cNvSpPr/>
          <p:nvPr>
            <p:custDataLst>
              <p:tags r:id="rId6"/>
            </p:custDataLst>
          </p:nvPr>
        </p:nvSpPr>
        <p:spPr>
          <a:xfrm>
            <a:off x="9715738" y="4777383"/>
            <a:ext cx="389393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Instant auction price estimates</a:t>
            </a:r>
          </a:p>
        </p:txBody>
      </p:sp>
      <p:sp>
        <p:nvSpPr>
          <p:cNvPr id="14" name="Text 9"/>
          <p:cNvSpPr/>
          <p:nvPr/>
        </p:nvSpPr>
        <p:spPr>
          <a:xfrm>
            <a:off x="793790" y="5985153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The system leverages machine learning to automate decision support, providing teams with objective, data-backed player valuations through an intuitive web interface.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750" y="3826510"/>
            <a:ext cx="12382500" cy="167703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6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67848" y="489506"/>
            <a:ext cx="5894189" cy="73675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0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System Architecture</a:t>
            </a:r>
          </a:p>
        </p:txBody>
      </p:sp>
      <p:sp>
        <p:nvSpPr>
          <p:cNvPr id="4" name="Text 1"/>
          <p:cNvSpPr/>
          <p:nvPr/>
        </p:nvSpPr>
        <p:spPr>
          <a:xfrm>
            <a:off x="4088787" y="1629630"/>
            <a:ext cx="6659831" cy="93412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endParaRPr lang="en-US" sz="3200" b="1" dirty="0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  <a:latin typeface="Petrona Bold" pitchFamily="34" charset="0"/>
              <a:ea typeface="Petrona Bold" pitchFamily="34" charset="-122"/>
              <a:cs typeface="Petrona Bold" pitchFamily="34" charset="-12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169664" y="6436624"/>
            <a:ext cx="4214574" cy="1411962"/>
          </a:xfrm>
          <a:prstGeom prst="roundRect">
            <a:avLst>
              <a:gd name="adj" fmla="val 6679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en-GB" altLang="en-US"/>
          </a:p>
        </p:txBody>
      </p:sp>
      <p:sp>
        <p:nvSpPr>
          <p:cNvPr id="20" name="Text 17"/>
          <p:cNvSpPr/>
          <p:nvPr/>
        </p:nvSpPr>
        <p:spPr>
          <a:xfrm>
            <a:off x="5372304" y="6604542"/>
            <a:ext cx="2947035" cy="3682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Layer</a:t>
            </a:r>
          </a:p>
        </p:txBody>
      </p:sp>
      <p:sp>
        <p:nvSpPr>
          <p:cNvPr id="21" name="Text 18"/>
          <p:cNvSpPr/>
          <p:nvPr/>
        </p:nvSpPr>
        <p:spPr>
          <a:xfrm>
            <a:off x="5372939" y="7098453"/>
            <a:ext cx="3750469" cy="35742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Trained prediction model</a:t>
            </a:r>
          </a:p>
        </p:txBody>
      </p:sp>
      <p:sp>
        <p:nvSpPr>
          <p:cNvPr id="27" name="Shape 10"/>
          <p:cNvSpPr/>
          <p:nvPr/>
        </p:nvSpPr>
        <p:spPr>
          <a:xfrm>
            <a:off x="5215255" y="2327910"/>
            <a:ext cx="4200525" cy="1769110"/>
          </a:xfrm>
          <a:prstGeom prst="roundRect">
            <a:avLst>
              <a:gd name="adj" fmla="val 5330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>
            <a:scene3d>
              <a:camera prst="orthographicFront"/>
              <a:lightRig rig="threePt" dir="t"/>
            </a:scene3d>
          </a:bodyPr>
          <a:lstStyle/>
          <a:p>
            <a:endParaRPr lang="en-GB" altLang="en-US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  <p:sp>
        <p:nvSpPr>
          <p:cNvPr id="28" name="Text 11"/>
          <p:cNvSpPr/>
          <p:nvPr/>
        </p:nvSpPr>
        <p:spPr>
          <a:xfrm>
            <a:off x="5309836" y="2513528"/>
            <a:ext cx="2947035" cy="3682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Frontend Layer</a:t>
            </a:r>
          </a:p>
        </p:txBody>
      </p:sp>
      <p:sp>
        <p:nvSpPr>
          <p:cNvPr id="29" name="Text 12"/>
          <p:cNvSpPr/>
          <p:nvPr/>
        </p:nvSpPr>
        <p:spPr>
          <a:xfrm>
            <a:off x="5309836" y="2915364"/>
            <a:ext cx="3750469" cy="71485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React web application with responsive UI</a:t>
            </a:r>
          </a:p>
        </p:txBody>
      </p:sp>
      <p:sp>
        <p:nvSpPr>
          <p:cNvPr id="33" name="Shape 13"/>
          <p:cNvSpPr/>
          <p:nvPr/>
        </p:nvSpPr>
        <p:spPr>
          <a:xfrm>
            <a:off x="5167124" y="4560378"/>
            <a:ext cx="4214574" cy="1411962"/>
          </a:xfrm>
          <a:prstGeom prst="roundRect">
            <a:avLst>
              <a:gd name="adj" fmla="val 6679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en-GB" altLang="en-US"/>
          </a:p>
        </p:txBody>
      </p:sp>
      <p:sp>
        <p:nvSpPr>
          <p:cNvPr id="34" name="Text 14"/>
          <p:cNvSpPr/>
          <p:nvPr/>
        </p:nvSpPr>
        <p:spPr>
          <a:xfrm>
            <a:off x="5371872" y="4737518"/>
            <a:ext cx="2947035" cy="3682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Backend Layer</a:t>
            </a:r>
          </a:p>
        </p:txBody>
      </p:sp>
      <p:sp>
        <p:nvSpPr>
          <p:cNvPr id="35" name="Text 15"/>
          <p:cNvSpPr/>
          <p:nvPr/>
        </p:nvSpPr>
        <p:spPr>
          <a:xfrm>
            <a:off x="5371872" y="5213014"/>
            <a:ext cx="3750469" cy="35742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Flask REST API for data processing</a:t>
            </a:r>
          </a:p>
        </p:txBody>
      </p:sp>
      <p:sp>
        <p:nvSpPr>
          <p:cNvPr id="36" name="Arrow: Down 35"/>
          <p:cNvSpPr/>
          <p:nvPr/>
        </p:nvSpPr>
        <p:spPr>
          <a:xfrm>
            <a:off x="6940020" y="4095611"/>
            <a:ext cx="669303" cy="498473"/>
          </a:xfrm>
          <a:prstGeom prst="downArrow">
            <a:avLst/>
          </a:prstGeom>
        </p:spPr>
        <p:style>
          <a:lnRef idx="0">
            <a:srgbClr val="FFFFFF"/>
          </a:lnRef>
          <a:fillRef idx="1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Down 36"/>
          <p:cNvSpPr/>
          <p:nvPr/>
        </p:nvSpPr>
        <p:spPr>
          <a:xfrm>
            <a:off x="7007746" y="6005995"/>
            <a:ext cx="479074" cy="427990"/>
          </a:xfrm>
          <a:prstGeom prst="downArrow">
            <a:avLst/>
          </a:prstGeom>
        </p:spPr>
        <p:style>
          <a:lnRef idx="0">
            <a:srgbClr val="FFFFFF"/>
          </a:lnRef>
          <a:fillRef idx="1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4263" y="608409"/>
            <a:ext cx="1660565" cy="412313"/>
          </a:xfrm>
          <a:prstGeom prst="roundRect">
            <a:avLst>
              <a:gd name="adj" fmla="val 18030"/>
            </a:avLst>
          </a:prstGeom>
          <a:solidFill>
            <a:srgbClr val="1C113B"/>
          </a:solidFill>
        </p:spPr>
      </p:sp>
      <p:sp>
        <p:nvSpPr>
          <p:cNvPr id="3" name="Text 1"/>
          <p:cNvSpPr/>
          <p:nvPr/>
        </p:nvSpPr>
        <p:spPr>
          <a:xfrm>
            <a:off x="906899" y="674727"/>
            <a:ext cx="1395293" cy="2796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E0D6DE"/>
                </a:solidFill>
                <a:latin typeface="Inter" panose="02000503000000020004" pitchFamily="34" charset="0"/>
                <a:ea typeface="Inter" panose="02000503000000020004" pitchFamily="34" charset="-122"/>
                <a:cs typeface="Inter" panose="02000503000000020004" pitchFamily="34" charset="-120"/>
              </a:rPr>
              <a:t>MODEL DETAILS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74263" y="1107043"/>
            <a:ext cx="9351169" cy="7259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700"/>
              </a:lnSpc>
              <a:buNone/>
            </a:pPr>
            <a:r>
              <a:rPr lang="en-US" sz="45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Machine Learning Implementation</a:t>
            </a:r>
          </a:p>
        </p:txBody>
      </p:sp>
      <p:sp>
        <p:nvSpPr>
          <p:cNvPr id="5" name="Text 3"/>
          <p:cNvSpPr/>
          <p:nvPr/>
        </p:nvSpPr>
        <p:spPr>
          <a:xfrm>
            <a:off x="774263" y="2908816"/>
            <a:ext cx="4227671" cy="871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70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Gaussian Naive Bayes Algorithm</a:t>
            </a:r>
          </a:p>
        </p:txBody>
      </p:sp>
      <p:sp>
        <p:nvSpPr>
          <p:cNvPr id="6" name="Text 4"/>
          <p:cNvSpPr/>
          <p:nvPr/>
        </p:nvSpPr>
        <p:spPr>
          <a:xfrm>
            <a:off x="774263" y="3995618"/>
            <a:ext cx="4227671" cy="279718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Trained on </a:t>
            </a:r>
            <a:r>
              <a:rPr lang="en-US" sz="1700" b="1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50,000 player records</a:t>
            </a:r>
            <a:r>
              <a:rPr lang="en-US" sz="17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 for robust performance</a:t>
            </a:r>
            <a:endParaRPr lang="en-US" sz="1700" dirty="0">
              <a:solidFill>
                <a:schemeClr val="tx1"/>
              </a:solidFill>
              <a:latin typeface="Georgia" panose="02040502050405020303" charset="0"/>
              <a:cs typeface="Georgia" panose="02040502050405020303" charset="0"/>
            </a:endParaRPr>
          </a:p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Classification-based approach using strategic price bins</a:t>
            </a:r>
            <a:endParaRPr lang="en-US" sz="1700" dirty="0">
              <a:solidFill>
                <a:schemeClr val="tx1"/>
              </a:solidFill>
              <a:latin typeface="Georgia" panose="02040502050405020303" charset="0"/>
              <a:cs typeface="Georgia" panose="02040502050405020303" charset="0"/>
            </a:endParaRPr>
          </a:p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Outputs prediction with statistical confidence score</a:t>
            </a:r>
            <a:endParaRPr lang="en-US" sz="1700" dirty="0">
              <a:solidFill>
                <a:schemeClr val="tx1"/>
              </a:solidFill>
              <a:latin typeface="Georgia" panose="02040502050405020303" charset="0"/>
              <a:cs typeface="Georgia" panose="02040502050405020303" charset="0"/>
            </a:endParaRPr>
          </a:p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Optimized for real-time inference speed</a:t>
            </a:r>
          </a:p>
        </p:txBody>
      </p:sp>
      <p:pic>
        <p:nvPicPr>
          <p:cNvPr id="7" name="Image 0" descr="C:/Users/Shaan/OneDrive/Desktop/Gemini_Generated_Image_e50cxye50cxye50c (1).pngGemini_Generated_Image_e50cxye50cxye50c (1)"/>
          <p:cNvPicPr>
            <a:picLocks noChangeAspect="1"/>
          </p:cNvPicPr>
          <p:nvPr/>
        </p:nvPicPr>
        <p:blipFill>
          <a:blip r:embed="rId3"/>
          <a:srcRect t="6165" b="6165"/>
          <a:stretch>
            <a:fillRect/>
          </a:stretch>
        </p:blipFill>
        <p:spPr>
          <a:xfrm>
            <a:off x="5549384" y="2399348"/>
            <a:ext cx="8314253" cy="4988481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88194"/>
            <a:ext cx="8317111" cy="7442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&amp; Feature Engineering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448044"/>
            <a:ext cx="4158615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50K</a:t>
            </a:r>
          </a:p>
        </p:txBody>
      </p:sp>
      <p:sp>
        <p:nvSpPr>
          <p:cNvPr id="4" name="Text 2"/>
          <p:cNvSpPr/>
          <p:nvPr/>
        </p:nvSpPr>
        <p:spPr>
          <a:xfrm>
            <a:off x="1384578" y="3479840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Player Records</a:t>
            </a:r>
          </a:p>
        </p:txBody>
      </p:sp>
      <p:sp>
        <p:nvSpPr>
          <p:cNvPr id="5" name="Text 3"/>
          <p:cNvSpPr/>
          <p:nvPr/>
        </p:nvSpPr>
        <p:spPr>
          <a:xfrm>
            <a:off x="793790" y="3987998"/>
            <a:ext cx="415861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Comprehensive training dataset</a:t>
            </a:r>
          </a:p>
        </p:txBody>
      </p:sp>
      <p:sp>
        <p:nvSpPr>
          <p:cNvPr id="6" name="Text 4"/>
          <p:cNvSpPr/>
          <p:nvPr/>
        </p:nvSpPr>
        <p:spPr>
          <a:xfrm>
            <a:off x="5235893" y="2448044"/>
            <a:ext cx="4158615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32</a:t>
            </a:r>
          </a:p>
        </p:txBody>
      </p:sp>
      <p:sp>
        <p:nvSpPr>
          <p:cNvPr id="7" name="Text 5"/>
          <p:cNvSpPr/>
          <p:nvPr/>
        </p:nvSpPr>
        <p:spPr>
          <a:xfrm>
            <a:off x="5826681" y="3479840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Features</a:t>
            </a:r>
          </a:p>
        </p:txBody>
      </p:sp>
      <p:sp>
        <p:nvSpPr>
          <p:cNvPr id="8" name="Text 6"/>
          <p:cNvSpPr/>
          <p:nvPr/>
        </p:nvSpPr>
        <p:spPr>
          <a:xfrm>
            <a:off x="5235893" y="3987998"/>
            <a:ext cx="415861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Performance parameters</a:t>
            </a:r>
          </a:p>
        </p:txBody>
      </p:sp>
      <p:sp>
        <p:nvSpPr>
          <p:cNvPr id="9" name="Text 7"/>
          <p:cNvSpPr/>
          <p:nvPr/>
        </p:nvSpPr>
        <p:spPr>
          <a:xfrm>
            <a:off x="9677995" y="2448044"/>
            <a:ext cx="4158615" cy="74842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</a:p>
        </p:txBody>
      </p:sp>
      <p:sp>
        <p:nvSpPr>
          <p:cNvPr id="10" name="Text 8"/>
          <p:cNvSpPr/>
          <p:nvPr/>
        </p:nvSpPr>
        <p:spPr>
          <a:xfrm>
            <a:off x="10268783" y="3479840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Player Roles</a:t>
            </a:r>
          </a:p>
        </p:txBody>
      </p:sp>
      <p:sp>
        <p:nvSpPr>
          <p:cNvPr id="11" name="Text 9"/>
          <p:cNvSpPr/>
          <p:nvPr/>
        </p:nvSpPr>
        <p:spPr>
          <a:xfrm>
            <a:off x="9677995" y="3987998"/>
            <a:ext cx="415861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Position categories</a:t>
            </a:r>
          </a:p>
        </p:txBody>
      </p:sp>
      <p:sp>
        <p:nvSpPr>
          <p:cNvPr id="12" name="Text 10"/>
          <p:cNvSpPr/>
          <p:nvPr/>
        </p:nvSpPr>
        <p:spPr>
          <a:xfrm>
            <a:off x="793790" y="4691063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 Categories</a:t>
            </a:r>
          </a:p>
        </p:txBody>
      </p:sp>
      <p:sp>
        <p:nvSpPr>
          <p:cNvPr id="13" name="Text 11"/>
          <p:cNvSpPr/>
          <p:nvPr/>
        </p:nvSpPr>
        <p:spPr>
          <a:xfrm>
            <a:off x="793790" y="5403294"/>
            <a:ext cx="13042821" cy="145169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Batting performance metrics</a:t>
            </a:r>
            <a:endParaRPr lang="en-US" sz="1750" dirty="0">
              <a:solidFill>
                <a:schemeClr val="tx1"/>
              </a:solidFill>
              <a:latin typeface="Georgia" panose="02040502050405020303" charset="0"/>
              <a:cs typeface="Georgia" panose="02040502050405020303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Bowling statistics and variations</a:t>
            </a:r>
            <a:endParaRPr lang="en-US" sz="1750" dirty="0">
              <a:solidFill>
                <a:schemeClr val="tx1"/>
              </a:solidFill>
              <a:latin typeface="Georgia" panose="02040502050405020303" charset="0"/>
              <a:cs typeface="Georgia" panose="02040502050405020303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Fielding and wicket-keeping abilities</a:t>
            </a:r>
            <a:endParaRPr lang="en-US" sz="1750" dirty="0">
              <a:solidFill>
                <a:schemeClr val="tx1"/>
              </a:solidFill>
              <a:latin typeface="Georgia" panose="02040502050405020303" charset="0"/>
              <a:cs typeface="Georgia" panose="02040502050405020303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Overall match performance indicators</a:t>
            </a:r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>
            <p:custDataLst>
              <p:tags r:id="rId1"/>
            </p:custDataLst>
          </p:nvPr>
        </p:nvSpPr>
        <p:spPr>
          <a:xfrm>
            <a:off x="533519" y="469900"/>
            <a:ext cx="775573" cy="189548"/>
          </a:xfrm>
          <a:prstGeom prst="roundRect">
            <a:avLst>
              <a:gd name="adj" fmla="val 21308"/>
            </a:avLst>
          </a:prstGeom>
          <a:solidFill>
            <a:srgbClr val="1C113B"/>
          </a:solidFill>
        </p:spPr>
      </p:sp>
      <p:pic>
        <p:nvPicPr>
          <p:cNvPr id="3" name="Image 0" descr="preencoded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240167" y="1321118"/>
            <a:ext cx="96083" cy="9608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043" y="510302"/>
            <a:ext cx="487442" cy="11763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000" dirty="0">
                <a:solidFill>
                  <a:schemeClr val="bg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FEATURES</a:t>
            </a:r>
          </a:p>
        </p:txBody>
      </p:sp>
      <p:sp>
        <p:nvSpPr>
          <p:cNvPr id="5" name="Text 2"/>
          <p:cNvSpPr/>
          <p:nvPr/>
        </p:nvSpPr>
        <p:spPr>
          <a:xfrm>
            <a:off x="506214" y="736362"/>
            <a:ext cx="4212550" cy="3943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Web Application Capabilities</a:t>
            </a:r>
          </a:p>
        </p:txBody>
      </p:sp>
      <p:sp>
        <p:nvSpPr>
          <p:cNvPr id="6" name="Shape 3"/>
          <p:cNvSpPr/>
          <p:nvPr>
            <p:custDataLst>
              <p:tags r:id="rId3"/>
            </p:custDataLst>
          </p:nvPr>
        </p:nvSpPr>
        <p:spPr>
          <a:xfrm>
            <a:off x="409490" y="1286947"/>
            <a:ext cx="3572357" cy="1087812"/>
          </a:xfrm>
          <a:prstGeom prst="roundRect">
            <a:avLst>
              <a:gd name="adj" fmla="val 8857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8" name="Text 4"/>
          <p:cNvSpPr/>
          <p:nvPr>
            <p:custDataLst>
              <p:tags r:id="rId4"/>
            </p:custDataLst>
          </p:nvPr>
        </p:nvSpPr>
        <p:spPr>
          <a:xfrm>
            <a:off x="764842" y="1476673"/>
            <a:ext cx="2090160" cy="25968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IPL-Themed Interface</a:t>
            </a:r>
          </a:p>
        </p:txBody>
      </p:sp>
      <p:sp>
        <p:nvSpPr>
          <p:cNvPr id="9" name="Text 5"/>
          <p:cNvSpPr/>
          <p:nvPr>
            <p:custDataLst>
              <p:tags r:id="rId5"/>
            </p:custDataLst>
          </p:nvPr>
        </p:nvSpPr>
        <p:spPr>
          <a:xfrm>
            <a:off x="764842" y="1820251"/>
            <a:ext cx="3155549" cy="38764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10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Interactive React UI with authentic cricket aesthetics</a:t>
            </a:r>
          </a:p>
        </p:txBody>
      </p:sp>
      <p:sp>
        <p:nvSpPr>
          <p:cNvPr id="10" name="Shape 6"/>
          <p:cNvSpPr/>
          <p:nvPr>
            <p:custDataLst>
              <p:tags r:id="rId6"/>
            </p:custDataLst>
          </p:nvPr>
        </p:nvSpPr>
        <p:spPr>
          <a:xfrm>
            <a:off x="409490" y="2470084"/>
            <a:ext cx="3572357" cy="1087812"/>
          </a:xfrm>
          <a:prstGeom prst="roundRect">
            <a:avLst>
              <a:gd name="adj" fmla="val 8857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12" name="Text 7"/>
          <p:cNvSpPr/>
          <p:nvPr>
            <p:custDataLst>
              <p:tags r:id="rId7"/>
            </p:custDataLst>
          </p:nvPr>
        </p:nvSpPr>
        <p:spPr>
          <a:xfrm>
            <a:off x="764842" y="2648380"/>
            <a:ext cx="2077772" cy="25968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Tabbed Navigation</a:t>
            </a:r>
          </a:p>
        </p:txBody>
      </p:sp>
      <p:sp>
        <p:nvSpPr>
          <p:cNvPr id="13" name="Text 8"/>
          <p:cNvSpPr/>
          <p:nvPr>
            <p:custDataLst>
              <p:tags r:id="rId8"/>
            </p:custDataLst>
          </p:nvPr>
        </p:nvSpPr>
        <p:spPr>
          <a:xfrm>
            <a:off x="764842" y="2991957"/>
            <a:ext cx="3155549" cy="38764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10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Organized stat categories for easy data entry</a:t>
            </a:r>
          </a:p>
        </p:txBody>
      </p:sp>
      <p:sp>
        <p:nvSpPr>
          <p:cNvPr id="14" name="Shape 9"/>
          <p:cNvSpPr/>
          <p:nvPr>
            <p:custDataLst>
              <p:tags r:id="rId9"/>
            </p:custDataLst>
          </p:nvPr>
        </p:nvSpPr>
        <p:spPr>
          <a:xfrm>
            <a:off x="409490" y="3659571"/>
            <a:ext cx="3572357" cy="893991"/>
          </a:xfrm>
          <a:prstGeom prst="roundRect">
            <a:avLst>
              <a:gd name="adj" fmla="val 10777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en-GB" altLang="en-US">
              <a:solidFill>
                <a:schemeClr val="tx1"/>
              </a:solidFill>
            </a:endParaRPr>
          </a:p>
        </p:txBody>
      </p:sp>
      <p:sp>
        <p:nvSpPr>
          <p:cNvPr id="16" name="Text 10"/>
          <p:cNvSpPr/>
          <p:nvPr>
            <p:custDataLst>
              <p:tags r:id="rId10"/>
            </p:custDataLst>
          </p:nvPr>
        </p:nvSpPr>
        <p:spPr>
          <a:xfrm>
            <a:off x="764842" y="3820087"/>
            <a:ext cx="2077772" cy="25968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Batch Processing</a:t>
            </a:r>
          </a:p>
        </p:txBody>
      </p:sp>
      <p:sp>
        <p:nvSpPr>
          <p:cNvPr id="17" name="Text 11"/>
          <p:cNvSpPr/>
          <p:nvPr>
            <p:custDataLst>
              <p:tags r:id="rId11"/>
            </p:custDataLst>
          </p:nvPr>
        </p:nvSpPr>
        <p:spPr>
          <a:xfrm>
            <a:off x="764842" y="4163664"/>
            <a:ext cx="3155549" cy="19382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10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CSV upload for multiple player predictions</a:t>
            </a:r>
          </a:p>
        </p:txBody>
      </p:sp>
      <p:sp>
        <p:nvSpPr>
          <p:cNvPr id="18" name="Shape 12"/>
          <p:cNvSpPr/>
          <p:nvPr>
            <p:custDataLst>
              <p:tags r:id="rId12"/>
            </p:custDataLst>
          </p:nvPr>
        </p:nvSpPr>
        <p:spPr>
          <a:xfrm>
            <a:off x="409490" y="4660950"/>
            <a:ext cx="3572357" cy="893991"/>
          </a:xfrm>
          <a:prstGeom prst="roundRect">
            <a:avLst>
              <a:gd name="adj" fmla="val 10777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0" name="Text 13"/>
          <p:cNvSpPr/>
          <p:nvPr>
            <p:custDataLst>
              <p:tags r:id="rId13"/>
            </p:custDataLst>
          </p:nvPr>
        </p:nvSpPr>
        <p:spPr>
          <a:xfrm>
            <a:off x="764842" y="4797972"/>
            <a:ext cx="2077772" cy="25968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Smart Validation</a:t>
            </a:r>
          </a:p>
        </p:txBody>
      </p:sp>
      <p:sp>
        <p:nvSpPr>
          <p:cNvPr id="21" name="Text 14"/>
          <p:cNvSpPr/>
          <p:nvPr>
            <p:custDataLst>
              <p:tags r:id="rId14"/>
            </p:custDataLst>
          </p:nvPr>
        </p:nvSpPr>
        <p:spPr>
          <a:xfrm>
            <a:off x="764842" y="5141549"/>
            <a:ext cx="3155549" cy="19382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10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Real-time error handling and input checks</a:t>
            </a:r>
          </a:p>
        </p:txBody>
      </p:sp>
      <p:sp>
        <p:nvSpPr>
          <p:cNvPr id="22" name="Shape 15"/>
          <p:cNvSpPr/>
          <p:nvPr>
            <p:custDataLst>
              <p:tags r:id="rId15"/>
            </p:custDataLst>
          </p:nvPr>
        </p:nvSpPr>
        <p:spPr>
          <a:xfrm>
            <a:off x="409490" y="5626137"/>
            <a:ext cx="3572357" cy="1087812"/>
          </a:xfrm>
          <a:prstGeom prst="roundRect">
            <a:avLst>
              <a:gd name="adj" fmla="val 8857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4" name="Text 16"/>
          <p:cNvSpPr/>
          <p:nvPr>
            <p:custDataLst>
              <p:tags r:id="rId16"/>
            </p:custDataLst>
          </p:nvPr>
        </p:nvSpPr>
        <p:spPr>
          <a:xfrm>
            <a:off x="764842" y="5775858"/>
            <a:ext cx="2077772" cy="25968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Visual Results</a:t>
            </a:r>
          </a:p>
        </p:txBody>
      </p:sp>
      <p:sp>
        <p:nvSpPr>
          <p:cNvPr id="25" name="Text 17"/>
          <p:cNvSpPr/>
          <p:nvPr>
            <p:custDataLst>
              <p:tags r:id="rId17"/>
            </p:custDataLst>
          </p:nvPr>
        </p:nvSpPr>
        <p:spPr>
          <a:xfrm>
            <a:off x="764842" y="6119435"/>
            <a:ext cx="3155549" cy="38764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10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Animated confidence meter and price display</a:t>
            </a:r>
          </a:p>
        </p:txBody>
      </p:sp>
      <p:sp>
        <p:nvSpPr>
          <p:cNvPr id="26" name="Shape 18"/>
          <p:cNvSpPr/>
          <p:nvPr>
            <p:custDataLst>
              <p:tags r:id="rId18"/>
            </p:custDataLst>
          </p:nvPr>
        </p:nvSpPr>
        <p:spPr>
          <a:xfrm>
            <a:off x="401870" y="6785143"/>
            <a:ext cx="3572357" cy="893991"/>
          </a:xfrm>
          <a:prstGeom prst="roundRect">
            <a:avLst>
              <a:gd name="adj" fmla="val 10777"/>
            </a:avLst>
          </a:prstGeom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8" name="Text 19"/>
          <p:cNvSpPr/>
          <p:nvPr>
            <p:custDataLst>
              <p:tags r:id="rId19"/>
            </p:custDataLst>
          </p:nvPr>
        </p:nvSpPr>
        <p:spPr>
          <a:xfrm>
            <a:off x="764842" y="6947565"/>
            <a:ext cx="2077772" cy="25968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Demo Mode</a:t>
            </a:r>
          </a:p>
        </p:txBody>
      </p:sp>
      <p:sp>
        <p:nvSpPr>
          <p:cNvPr id="29" name="Text 20"/>
          <p:cNvSpPr/>
          <p:nvPr>
            <p:custDataLst>
              <p:tags r:id="rId20"/>
            </p:custDataLst>
          </p:nvPr>
        </p:nvSpPr>
        <p:spPr>
          <a:xfrm>
            <a:off x="764842" y="7291142"/>
            <a:ext cx="3155549" cy="19382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100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Auto-generate sample data for testing</a:t>
            </a:r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181249" y="2880598"/>
            <a:ext cx="5288399" cy="3173016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681220" y="1201420"/>
            <a:ext cx="9505950" cy="653161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2685" y="461050"/>
            <a:ext cx="6235303" cy="74426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System Execution Flow</a:t>
            </a:r>
          </a:p>
        </p:txBody>
      </p:sp>
      <p:sp>
        <p:nvSpPr>
          <p:cNvPr id="5" name="Text 1"/>
          <p:cNvSpPr/>
          <p:nvPr>
            <p:custDataLst>
              <p:tags r:id="rId1"/>
            </p:custDataLst>
          </p:nvPr>
        </p:nvSpPr>
        <p:spPr>
          <a:xfrm>
            <a:off x="10250400" y="5605493"/>
            <a:ext cx="1904234" cy="38516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IN" alt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5. </a:t>
            </a:r>
            <a:r>
              <a:rPr 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 Price</a:t>
            </a:r>
          </a:p>
        </p:txBody>
      </p:sp>
      <p:sp>
        <p:nvSpPr>
          <p:cNvPr id="7" name="Text 2"/>
          <p:cNvSpPr/>
          <p:nvPr>
            <p:custDataLst>
              <p:tags r:id="rId2"/>
            </p:custDataLst>
          </p:nvPr>
        </p:nvSpPr>
        <p:spPr>
          <a:xfrm>
            <a:off x="7582535" y="4688840"/>
            <a:ext cx="2720975" cy="7702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IN" alt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4. </a:t>
            </a:r>
            <a:r>
              <a:rPr 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Model Process</a:t>
            </a:r>
          </a:p>
        </p:txBody>
      </p:sp>
      <p:sp>
        <p:nvSpPr>
          <p:cNvPr id="9" name="Text 3"/>
          <p:cNvSpPr/>
          <p:nvPr>
            <p:custDataLst>
              <p:tags r:id="rId3"/>
            </p:custDataLst>
          </p:nvPr>
        </p:nvSpPr>
        <p:spPr>
          <a:xfrm>
            <a:off x="5601524" y="3747483"/>
            <a:ext cx="1904234" cy="38516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IN" alt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3. </a:t>
            </a:r>
            <a:r>
              <a:rPr 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Send via API</a:t>
            </a:r>
          </a:p>
        </p:txBody>
      </p:sp>
      <p:sp>
        <p:nvSpPr>
          <p:cNvPr id="11" name="Text 4"/>
          <p:cNvSpPr/>
          <p:nvPr>
            <p:custDataLst>
              <p:tags r:id="rId4"/>
            </p:custDataLst>
          </p:nvPr>
        </p:nvSpPr>
        <p:spPr>
          <a:xfrm>
            <a:off x="2805430" y="2822575"/>
            <a:ext cx="3070860" cy="7702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IN" alt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2. </a:t>
            </a:r>
            <a:r>
              <a:rPr 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Validate Input</a:t>
            </a:r>
          </a:p>
        </p:txBody>
      </p:sp>
      <p:sp>
        <p:nvSpPr>
          <p:cNvPr id="13" name="Text 5"/>
          <p:cNvSpPr/>
          <p:nvPr>
            <p:custDataLst>
              <p:tags r:id="rId5"/>
            </p:custDataLst>
          </p:nvPr>
        </p:nvSpPr>
        <p:spPr>
          <a:xfrm>
            <a:off x="744610" y="1860898"/>
            <a:ext cx="1904234" cy="38516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IN" alt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1. </a:t>
            </a:r>
            <a:r>
              <a:rPr lang="en-US" sz="24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Enter Stats</a:t>
            </a:r>
          </a:p>
        </p:txBody>
      </p:sp>
      <p:sp>
        <p:nvSpPr>
          <p:cNvPr id="14" name="Text 6"/>
          <p:cNvSpPr/>
          <p:nvPr/>
        </p:nvSpPr>
        <p:spPr>
          <a:xfrm>
            <a:off x="358815" y="6412190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The system processes predictions in milliseconds, providing instant feedback through a seamless user experience. Each step includes built-in validation to ensure data quality and prediction accuracy.</a:t>
            </a:r>
          </a:p>
        </p:txBody>
      </p:sp>
      <p:sp>
        <p:nvSpPr>
          <p:cNvPr id="16" name="Rounded Rectangle 15"/>
          <p:cNvSpPr/>
          <p:nvPr>
            <p:custDataLst>
              <p:tags r:id="rId6"/>
            </p:custDataLst>
          </p:nvPr>
        </p:nvSpPr>
        <p:spPr>
          <a:xfrm>
            <a:off x="2744470" y="2433320"/>
            <a:ext cx="4005580" cy="115951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8" name="Rounded Rectangle 17"/>
          <p:cNvSpPr/>
          <p:nvPr>
            <p:custDataLst>
              <p:tags r:id="rId7"/>
            </p:custDataLst>
          </p:nvPr>
        </p:nvSpPr>
        <p:spPr>
          <a:xfrm>
            <a:off x="5144135" y="3382645"/>
            <a:ext cx="4005580" cy="115951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9" name="Rounded Rectangle 18"/>
          <p:cNvSpPr/>
          <p:nvPr>
            <p:custDataLst>
              <p:tags r:id="rId8"/>
            </p:custDataLst>
          </p:nvPr>
        </p:nvSpPr>
        <p:spPr>
          <a:xfrm>
            <a:off x="358775" y="1473835"/>
            <a:ext cx="4005580" cy="115951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0" name="Rounded Rectangle 19"/>
          <p:cNvSpPr/>
          <p:nvPr>
            <p:custDataLst>
              <p:tags r:id="rId9"/>
            </p:custDataLst>
          </p:nvPr>
        </p:nvSpPr>
        <p:spPr>
          <a:xfrm>
            <a:off x="7387590" y="4287520"/>
            <a:ext cx="4005580" cy="115951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1" name="Rounded Rectangle 20"/>
          <p:cNvSpPr/>
          <p:nvPr>
            <p:custDataLst>
              <p:tags r:id="rId10"/>
            </p:custDataLst>
          </p:nvPr>
        </p:nvSpPr>
        <p:spPr>
          <a:xfrm>
            <a:off x="9642475" y="5219700"/>
            <a:ext cx="4005580" cy="115951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3390" y="541655"/>
            <a:ext cx="11333480" cy="1488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Conclusion &amp; Future Directions</a:t>
            </a:r>
          </a:p>
        </p:txBody>
      </p:sp>
      <p:sp>
        <p:nvSpPr>
          <p:cNvPr id="5" name="Text 2"/>
          <p:cNvSpPr/>
          <p:nvPr/>
        </p:nvSpPr>
        <p:spPr>
          <a:xfrm>
            <a:off x="779780" y="2029857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Achievement</a:t>
            </a:r>
          </a:p>
        </p:txBody>
      </p:sp>
      <p:sp>
        <p:nvSpPr>
          <p:cNvPr id="6" name="Text 3"/>
          <p:cNvSpPr/>
          <p:nvPr/>
        </p:nvSpPr>
        <p:spPr>
          <a:xfrm>
            <a:off x="680085" y="2504916"/>
            <a:ext cx="3374588" cy="254031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Successfully developed a machine learning-based IPL auction price predictor that demonstrates the powerful intersection of sports analytics and predictive modeling in real-world scenarios.</a:t>
            </a:r>
            <a:endParaRPr lang="en-US" dirty="0">
              <a:latin typeface="Georgia" panose="02040502050405020303" charset="0"/>
              <a:cs typeface="Georgia" panose="02040502050405020303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62491" y="1922542"/>
            <a:ext cx="2977039" cy="37207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Future Opportunities</a:t>
            </a:r>
          </a:p>
        </p:txBody>
      </p:sp>
      <p:sp>
        <p:nvSpPr>
          <p:cNvPr id="8" name="Text 5"/>
          <p:cNvSpPr/>
          <p:nvPr/>
        </p:nvSpPr>
        <p:spPr>
          <a:xfrm>
            <a:off x="5962491" y="2504916"/>
            <a:ext cx="3501509" cy="290339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Integration with actual IPL auction datasets for enhanced accuracy</a:t>
            </a:r>
            <a:endParaRPr lang="en-US" sz="1750" dirty="0">
              <a:solidFill>
                <a:schemeClr val="tx1"/>
              </a:solidFill>
              <a:latin typeface="Georgia" panose="02040502050405020303" charset="0"/>
              <a:cs typeface="Georgia" panose="02040502050405020303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Implementation of advanced ensemble ML algorithms</a:t>
            </a:r>
            <a:endParaRPr lang="en-US" sz="1750" dirty="0">
              <a:solidFill>
                <a:schemeClr val="tx1"/>
              </a:solidFill>
              <a:latin typeface="Georgia" panose="02040502050405020303" charset="0"/>
              <a:cs typeface="Georgia" panose="02040502050405020303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tx1"/>
                </a:solidFill>
                <a:latin typeface="Georgia" panose="02040502050405020303" charset="0"/>
                <a:ea typeface="Inter" panose="02000503000000020004" pitchFamily="34" charset="-122"/>
                <a:cs typeface="Georgia" panose="02040502050405020303" charset="0"/>
              </a:rPr>
              <a:t>Development of player comparison tools and budget optimization features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5536565" y="1791970"/>
            <a:ext cx="4147185" cy="396684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42570" y="1791970"/>
            <a:ext cx="4147185" cy="396684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11" name="Straight Connector 10"/>
          <p:cNvCxnSpPr/>
          <p:nvPr/>
        </p:nvCxnSpPr>
        <p:spPr>
          <a:xfrm>
            <a:off x="4393565" y="2513965"/>
            <a:ext cx="1143000" cy="253174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Shaan/OneDrive/Desktop/Gemini_Generated_Image_y4pv5gy4pv5gy4pv (1).pngGemini_Generated_Image_y4pv5gy4pv5gy4pv (1)"/>
          <p:cNvPicPr>
            <a:picLocks noChangeAspect="1"/>
          </p:cNvPicPr>
          <p:nvPr/>
        </p:nvPicPr>
        <p:blipFill>
          <a:blip r:embed="rId3"/>
          <a:srcRect t="14132" b="14132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3370540"/>
            <a:ext cx="7556421" cy="148851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0"/>
              </a:lnSpc>
              <a:buNone/>
            </a:pPr>
            <a:r>
              <a:rPr lang="en-US" sz="935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Thank You</a:t>
            </a:r>
          </a:p>
        </p:txBody>
      </p:sp>
    </p:spTree>
  </p:cSld>
  <p:clrMapOvr>
    <a:masterClrMapping/>
  </p:clrMapOvr>
  <p:transition spd="med">
    <p:pull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3.3906299212598,&quot;left&quot;:62.45314960629921,&quot;top&quot;:255.34685039370078,&quot;width&quot;:1027.0437007874018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6.45937007874008,&quot;left&quot;:62.50314960629921,&quot;top&quot;:246.8625196850394,&quot;width&quot;:1026.9843307086617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6.45937007874008,&quot;left&quot;:62.50314960629921,&quot;top&quot;:246.8625196850394,&quot;width&quot;:1026.9843307086617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6.45937007874008,&quot;left&quot;:62.50314960629921,&quot;top&quot;:246.8625196850394,&quot;width&quot;:1026.9843307086617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6.45937007874008,&quot;left&quot;:62.50314960629921,&quot;top&quot;:246.8625196850394,&quot;width&quot;:1026.9843307086617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6.45937007874008,&quot;left&quot;:62.50314960629921,&quot;top&quot;:246.8625196850394,&quot;width&quot;:1026.9843307086617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86.45937007874008,&quot;left&quot;:62.50314960629921,&quot;top&quot;:246.8625196850394,&quot;width&quot;:1026.9843307086617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6562204724411,&quot;left&quot;:-351.84062992125985,&quot;top&quot;:36.999999999999986,&quot;width&quot;:723.3718897637794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6.25,&quot;left&quot;:28.25,&quot;top&quot;:116.05,&quot;width&quot;:1046.4}"/>
</p:tagLst>
</file>

<file path=ppt/theme/theme1.xml><?xml version="1.0" encoding="utf-8"?>
<a:theme xmlns:a="http://schemas.openxmlformats.org/drawingml/2006/main" name="Business Cooperate">
  <a:themeElements>
    <a:clrScheme name="Business Cooper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siness Cooperate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Business Cooper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siness Cooper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siness Cooper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546</Words>
  <Application>Microsoft Office PowerPoint</Application>
  <PresentationFormat>Custom</PresentationFormat>
  <Paragraphs>117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Inter</vt:lpstr>
      <vt:lpstr>Petrona Bold</vt:lpstr>
      <vt:lpstr>Georgia</vt:lpstr>
      <vt:lpstr>Business Cooperate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Nilay Mondal</cp:lastModifiedBy>
  <cp:revision>14</cp:revision>
  <dcterms:created xsi:type="dcterms:W3CDTF">2026-02-09T07:48:00Z</dcterms:created>
  <dcterms:modified xsi:type="dcterms:W3CDTF">2026-02-20T17:09:50Z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81D4678D1EF144CE87B62EE8175A17CA_13</vt:lpwstr>
  </property>
  <property fmtid="{D5CDD505-2E9C-101B-9397-08002B2CF9AE}" pid="3" name="KSOProductBuildVer">
    <vt:lpwstr>2057-12.2.0.23197</vt:lpwstr>
  </property>
</Properties>
</file>